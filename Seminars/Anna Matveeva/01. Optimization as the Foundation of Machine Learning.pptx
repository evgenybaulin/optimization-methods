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2" r:id="rId14"/>
    <p:sldId id="269" r:id="rId15"/>
    <p:sldId id="270" r:id="rId16"/>
    <p:sldId id="271" r:id="rId17"/>
    <p:sldId id="272" r:id="rId18"/>
    <p:sldId id="28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329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192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5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E_LIGHT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93776"/>
            <a:ext cx="11183112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30352" y="1463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0F2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HSE UNIVERSITY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kern="0" spc="80" dirty="0">
                <a:solidFill>
                  <a:srgbClr val="6D7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BASES · SEMINAR 01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8793A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8793A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26230"/>
            <a:ext cx="177393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45168" y="137771"/>
            <a:ext cx="24688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dirty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65992" y="6455664"/>
            <a:ext cx="16459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 dirty="0">
                <a:solidFill>
                  <a:srgbClr val="6B7A9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382" y="914400"/>
            <a:ext cx="4389120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 dirty="0">
                <a:solidFill>
                  <a:srgbClr val="103B7B"/>
                </a:solidFill>
                <a:latin typeface="Aptos"/>
              </a:rPr>
              <a:t>OPTIMIZATION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382" y="2572932"/>
            <a:ext cx="4110228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dirty="0">
                <a:solidFill>
                  <a:srgbClr val="103B7B"/>
                </a:solidFill>
                <a:latin typeface="Aptos"/>
              </a:rPr>
              <a:t>Derivative checks
local geometry and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382" y="6424329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6B7A90"/>
                </a:solidFill>
                <a:latin typeface="Aptos"/>
              </a:rPr>
              <a:t>0</a:t>
            </a:r>
            <a:r>
              <a:rPr lang="ru-RU" sz="1600" b="0" i="0" dirty="0">
                <a:solidFill>
                  <a:srgbClr val="6B7A90"/>
                </a:solidFill>
                <a:latin typeface="Aptos"/>
              </a:rPr>
              <a:t>7</a:t>
            </a:r>
            <a:r>
              <a:rPr sz="1600" b="0" i="0" dirty="0">
                <a:solidFill>
                  <a:srgbClr val="6B7A90"/>
                </a:solidFill>
                <a:latin typeface="Aptos"/>
              </a:rPr>
              <a:t>/09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382" y="5541264"/>
            <a:ext cx="2286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03B7B"/>
                </a:solidFill>
                <a:latin typeface="Aptos"/>
              </a:rPr>
              <a:t>Anna Matveeva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5851267"/>
            <a:ext cx="2560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0EA5D9"/>
                </a:solidFill>
                <a:latin typeface="Aptos"/>
              </a:rPr>
              <a:t>Telegram: @</a:t>
            </a:r>
            <a:r>
              <a:rPr sz="1200" b="0" i="0" dirty="0" err="1">
                <a:solidFill>
                  <a:srgbClr val="0EA5D9"/>
                </a:solidFill>
                <a:latin typeface="Aptos"/>
              </a:rPr>
              <a:t>moomive</a:t>
            </a:r>
            <a:endParaRPr sz="1200" b="0" i="0" dirty="0">
              <a:solidFill>
                <a:srgbClr val="0EA5D9"/>
              </a:solidFill>
              <a:latin typeface="Aptos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4B5DBAD7-E7EE-B0E1-57F4-5ABCE17DA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540" y="477886"/>
            <a:ext cx="6026658" cy="6026658"/>
          </a:xfrm>
          <a:prstGeom prst="rect">
            <a:avLst/>
          </a:prstGeom>
        </p:spPr>
      </p:pic>
      <p:sp>
        <p:nvSpPr>
          <p:cNvPr id="23" name="Rounded Rectangle 7">
            <a:extLst>
              <a:ext uri="{FF2B5EF4-FFF2-40B4-BE49-F238E27FC236}">
                <a16:creationId xmlns:a16="http://schemas.microsoft.com/office/drawing/2014/main" id="{5671D9D9-0F59-73C7-C05E-558152D69B69}"/>
              </a:ext>
            </a:extLst>
          </p:cNvPr>
          <p:cNvSpPr/>
          <p:nvPr/>
        </p:nvSpPr>
        <p:spPr>
          <a:xfrm>
            <a:off x="729234" y="3692176"/>
            <a:ext cx="1613916" cy="578071"/>
          </a:xfrm>
          <a:prstGeom prst="roundRect">
            <a:avLst/>
          </a:prstGeom>
          <a:solidFill>
            <a:srgbClr val="103B7B"/>
          </a:solidFill>
          <a:ln w="12700">
            <a:solidFill>
              <a:srgbClr val="103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3856208"/>
            <a:ext cx="10058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Aptos"/>
              </a:rPr>
              <a:t>Seminar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103B7B"/>
                </a:solidFill>
                <a:latin typeface="Aptos"/>
              </a:rPr>
              <a:t>Today we will build a derivative-testing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189053"/>
            <a:ext cx="11064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667085"/>
                </a:solidFill>
                <a:latin typeface="Aptos"/>
              </a:rPr>
              <a:t>The goal is not only to derive formulas, but to trust the implementation that uses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 dirty="0">
                <a:solidFill>
                  <a:srgbClr val="6B7A90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714500"/>
            <a:ext cx="2148840" cy="3749039"/>
          </a:xfrm>
          <a:prstGeom prst="roundRect">
            <a:avLst/>
          </a:prstGeom>
          <a:solidFill>
            <a:srgbClr val="103B7B"/>
          </a:solidFill>
          <a:ln w="12700">
            <a:solidFill>
              <a:srgbClr val="103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" y="2180844"/>
            <a:ext cx="214884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dirty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7519" y="3045619"/>
            <a:ext cx="1717929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checks before you trust an objective </a:t>
            </a:r>
            <a:r>
              <a:rPr lang="en-US" dirty="0">
                <a:solidFill>
                  <a:schemeClr val="bg1"/>
                </a:solidFill>
              </a:rPr>
              <a:t>function</a:t>
            </a:r>
            <a:endParaRPr b="0" i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1530" y="4841747"/>
            <a:ext cx="1476185" cy="301753"/>
          </a:xfrm>
          <a:prstGeom prst="roundRect">
            <a:avLst/>
          </a:prstGeom>
          <a:solidFill>
            <a:srgbClr val="374B9B"/>
          </a:solidFill>
          <a:ln w="12700">
            <a:solidFill>
              <a:srgbClr val="374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674" y="4911831"/>
            <a:ext cx="1392174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dirty="0">
                <a:solidFill>
                  <a:srgbClr val="FFFFFF"/>
                </a:solidFill>
                <a:latin typeface="Aptos"/>
              </a:rPr>
              <a:t>seminar goals</a:t>
            </a:r>
          </a:p>
        </p:txBody>
      </p:sp>
      <p:sp>
        <p:nvSpPr>
          <p:cNvPr id="13" name="Oval 12"/>
          <p:cNvSpPr/>
          <p:nvPr/>
        </p:nvSpPr>
        <p:spPr>
          <a:xfrm>
            <a:off x="3326130" y="2007108"/>
            <a:ext cx="237744" cy="237744"/>
          </a:xfrm>
          <a:prstGeom prst="ellipse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4" name="TextBox 13"/>
          <p:cNvSpPr txBox="1"/>
          <p:nvPr/>
        </p:nvSpPr>
        <p:spPr>
          <a:xfrm>
            <a:off x="3326130" y="2018259"/>
            <a:ext cx="23774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1890" y="1988820"/>
            <a:ext cx="1645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03B7B"/>
                </a:solidFill>
                <a:latin typeface="Aptos"/>
              </a:rPr>
              <a:t>Translate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7810" y="2000636"/>
            <a:ext cx="6217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667085"/>
                </a:solidFill>
                <a:latin typeface="Aptos"/>
              </a:rPr>
              <a:t>scalar objective → vectorized NumPy code</a:t>
            </a:r>
          </a:p>
        </p:txBody>
      </p:sp>
      <p:sp>
        <p:nvSpPr>
          <p:cNvPr id="17" name="Oval 16"/>
          <p:cNvSpPr/>
          <p:nvPr/>
        </p:nvSpPr>
        <p:spPr>
          <a:xfrm>
            <a:off x="3326130" y="2702052"/>
            <a:ext cx="237744" cy="237744"/>
          </a:xfrm>
          <a:prstGeom prst="ellipse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8" name="TextBox 17"/>
          <p:cNvSpPr txBox="1"/>
          <p:nvPr/>
        </p:nvSpPr>
        <p:spPr>
          <a:xfrm>
            <a:off x="3326130" y="2713203"/>
            <a:ext cx="23774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1890" y="2683764"/>
            <a:ext cx="1645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103B7B"/>
                </a:solidFill>
                <a:latin typeface="Aptos"/>
              </a:rPr>
              <a:t>Differentiate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2683764"/>
            <a:ext cx="6217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667085"/>
                </a:solidFill>
                <a:latin typeface="Aptos"/>
              </a:rPr>
              <a:t>quadratic · MSE · logistic losses</a:t>
            </a:r>
          </a:p>
        </p:txBody>
      </p:sp>
      <p:sp>
        <p:nvSpPr>
          <p:cNvPr id="21" name="Oval 20"/>
          <p:cNvSpPr/>
          <p:nvPr/>
        </p:nvSpPr>
        <p:spPr>
          <a:xfrm>
            <a:off x="3326130" y="3396996"/>
            <a:ext cx="237744" cy="237744"/>
          </a:xfrm>
          <a:prstGeom prst="ellipse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22" name="TextBox 21"/>
          <p:cNvSpPr txBox="1"/>
          <p:nvPr/>
        </p:nvSpPr>
        <p:spPr>
          <a:xfrm>
            <a:off x="3326130" y="3408147"/>
            <a:ext cx="23774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1890" y="3378708"/>
            <a:ext cx="1645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103B7B"/>
                </a:solidFill>
                <a:latin typeface="Aptos"/>
              </a:rPr>
              <a:t>Classify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7810" y="3366892"/>
            <a:ext cx="6217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667085"/>
                </a:solidFill>
                <a:latin typeface="Aptos"/>
              </a:rPr>
              <a:t>stationary points via Hessian eigenvalues</a:t>
            </a:r>
          </a:p>
        </p:txBody>
      </p:sp>
      <p:sp>
        <p:nvSpPr>
          <p:cNvPr id="25" name="Oval 24"/>
          <p:cNvSpPr/>
          <p:nvPr/>
        </p:nvSpPr>
        <p:spPr>
          <a:xfrm>
            <a:off x="3326130" y="4091940"/>
            <a:ext cx="237744" cy="237744"/>
          </a:xfrm>
          <a:prstGeom prst="ellipse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26" name="TextBox 25"/>
          <p:cNvSpPr txBox="1"/>
          <p:nvPr/>
        </p:nvSpPr>
        <p:spPr>
          <a:xfrm>
            <a:off x="3326130" y="4103091"/>
            <a:ext cx="23774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1890" y="4073652"/>
            <a:ext cx="1645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103B7B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7810" y="4073652"/>
            <a:ext cx="6217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667085"/>
                </a:solidFill>
                <a:latin typeface="Aptos"/>
              </a:rPr>
              <a:t>central differences and directional checks</a:t>
            </a:r>
          </a:p>
        </p:txBody>
      </p:sp>
      <p:sp>
        <p:nvSpPr>
          <p:cNvPr id="29" name="Oval 28"/>
          <p:cNvSpPr/>
          <p:nvPr/>
        </p:nvSpPr>
        <p:spPr>
          <a:xfrm>
            <a:off x="3326130" y="4786883"/>
            <a:ext cx="237744" cy="237744"/>
          </a:xfrm>
          <a:prstGeom prst="ellipse">
            <a:avLst/>
          </a:prstGeom>
          <a:solidFill>
            <a:srgbClr val="37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30" name="TextBox 29"/>
          <p:cNvSpPr txBox="1"/>
          <p:nvPr/>
        </p:nvSpPr>
        <p:spPr>
          <a:xfrm>
            <a:off x="3326130" y="4798034"/>
            <a:ext cx="23774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91890" y="4768596"/>
            <a:ext cx="1645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103B7B"/>
                </a:solidFill>
                <a:latin typeface="Aptos"/>
              </a:rPr>
              <a:t>Debug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7810" y="4744964"/>
            <a:ext cx="6217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667085"/>
                </a:solidFill>
                <a:latin typeface="Aptos"/>
              </a:rPr>
              <a:t>shape · sign · scaling · stability bugs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63240" y="5479162"/>
            <a:ext cx="8430768" cy="793622"/>
          </a:xfrm>
          <a:prstGeom prst="roundRect">
            <a:avLst/>
          </a:prstGeom>
          <a:solidFill>
            <a:srgbClr val="EEF7FB"/>
          </a:solidFill>
          <a:ln w="12700">
            <a:solidFill>
              <a:srgbClr val="EE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26130" y="5737473"/>
            <a:ext cx="127558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0EA5D9"/>
                </a:solidFill>
                <a:latin typeface="Aptos"/>
              </a:rPr>
              <a:t>TAKEAWAY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4608" y="5596476"/>
            <a:ext cx="6334506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dirty="0">
                <a:solidFill>
                  <a:srgbClr val="103B7B"/>
                </a:solidFill>
                <a:latin typeface="Aptos"/>
              </a:rPr>
              <a:t>A gradient is not finished when it is derived — </a:t>
            </a:r>
            <a:endParaRPr lang="en-US" b="1" dirty="0">
              <a:solidFill>
                <a:srgbClr val="103B7B"/>
              </a:solidFill>
              <a:latin typeface="Aptos"/>
            </a:endParaRPr>
          </a:p>
          <a:p>
            <a:pPr algn="l"/>
            <a:r>
              <a:rPr b="1" i="0" dirty="0">
                <a:solidFill>
                  <a:srgbClr val="103B7B"/>
                </a:solidFill>
                <a:latin typeface="Aptos"/>
              </a:rPr>
              <a:t>it is finished when it passes an independent check.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8C9E91-B90C-BAFE-B022-57091C967511}"/>
              </a:ext>
            </a:extLst>
          </p:cNvPr>
          <p:cNvSpPr txBox="1"/>
          <p:nvPr/>
        </p:nvSpPr>
        <p:spPr>
          <a:xfrm>
            <a:off x="329184" y="126230"/>
            <a:ext cx="177393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8046F4-EDE9-803F-AC8A-BE3F5A1D247D}"/>
              </a:ext>
            </a:extLst>
          </p:cNvPr>
          <p:cNvSpPr txBox="1"/>
          <p:nvPr/>
        </p:nvSpPr>
        <p:spPr>
          <a:xfrm>
            <a:off x="9345168" y="137771"/>
            <a:ext cx="24688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dirty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103B7B"/>
                </a:solidFill>
                <a:latin typeface="Aptos"/>
              </a:rPr>
              <a:t>Warm-up — read the geometry before differentiating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208593"/>
            <a:ext cx="11064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667085"/>
                </a:solidFill>
                <a:latin typeface="Aptos"/>
              </a:rPr>
              <a:t>Before taking derivatives, predict where stationary points are and what type they might 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 dirty="0">
                <a:solidFill>
                  <a:srgbClr val="6B7A90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801368"/>
            <a:ext cx="37033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warmu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72" y="2106773"/>
            <a:ext cx="3410712" cy="26444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2272" y="4776822"/>
            <a:ext cx="341071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rgbClr val="667085"/>
                </a:solidFill>
                <a:latin typeface="Aptos"/>
              </a:rPr>
              <a:t>Elliptic contours around </a:t>
            </a:r>
            <a:endParaRPr lang="en-US" sz="1600" b="0" i="0" dirty="0">
              <a:solidFill>
                <a:srgbClr val="667085"/>
              </a:solidFill>
              <a:latin typeface="Aptos"/>
            </a:endParaRPr>
          </a:p>
          <a:p>
            <a:pPr algn="ctr"/>
            <a:r>
              <a:rPr sz="1600" b="0" i="0" dirty="0">
                <a:solidFill>
                  <a:srgbClr val="667085"/>
                </a:solidFill>
                <a:latin typeface="Aptos"/>
              </a:rPr>
              <a:t>a single minimum at (0,0)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01368"/>
            <a:ext cx="37033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warmu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644" y="2106773"/>
            <a:ext cx="3410712" cy="264445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17136" y="4733605"/>
            <a:ext cx="341071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rgbClr val="667085"/>
                </a:solidFill>
                <a:latin typeface="Aptos"/>
              </a:rPr>
              <a:t>Hyperbolic contours: </a:t>
            </a:r>
            <a:endParaRPr lang="en-US" sz="1600" b="0" i="0" dirty="0">
              <a:solidFill>
                <a:srgbClr val="667085"/>
              </a:solidFill>
              <a:latin typeface="Aptos"/>
            </a:endParaRPr>
          </a:p>
          <a:p>
            <a:pPr algn="ctr"/>
            <a:r>
              <a:rPr sz="1600" b="0" i="0" dirty="0">
                <a:solidFill>
                  <a:srgbClr val="667085"/>
                </a:solidFill>
                <a:latin typeface="Aptos"/>
              </a:rPr>
              <a:t>the origin is a saddle 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01368"/>
            <a:ext cx="331012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warmu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748" y="2213217"/>
            <a:ext cx="3017520" cy="223393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48472" y="4733604"/>
            <a:ext cx="30175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rgbClr val="667085"/>
                </a:solidFill>
                <a:latin typeface="Aptos"/>
              </a:rPr>
              <a:t>Two minima at x</a:t>
            </a:r>
            <a:r>
              <a:rPr lang="en-US" sz="1600" b="0" i="0" dirty="0">
                <a:solidFill>
                  <a:srgbClr val="667085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667085"/>
                </a:solidFill>
                <a:latin typeface="Aptos"/>
              </a:rPr>
              <a:t>=</a:t>
            </a:r>
            <a:r>
              <a:rPr lang="en-US" sz="1600" b="0" i="0" dirty="0">
                <a:solidFill>
                  <a:srgbClr val="667085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667085"/>
                </a:solidFill>
                <a:latin typeface="Aptos"/>
              </a:rPr>
              <a:t>±1 and </a:t>
            </a:r>
            <a:endParaRPr lang="en-US" sz="1600" b="0" i="0" dirty="0">
              <a:solidFill>
                <a:srgbClr val="667085"/>
              </a:solidFill>
              <a:latin typeface="Aptos"/>
            </a:endParaRPr>
          </a:p>
          <a:p>
            <a:pPr algn="ctr"/>
            <a:r>
              <a:rPr sz="1600" b="0" i="0" dirty="0">
                <a:solidFill>
                  <a:srgbClr val="667085"/>
                </a:solidFill>
                <a:latin typeface="Aptos"/>
              </a:rPr>
              <a:t>a local maximum at x</a:t>
            </a:r>
            <a:r>
              <a:rPr lang="en-US" sz="1600" b="0" i="0" dirty="0">
                <a:solidFill>
                  <a:srgbClr val="667085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667085"/>
                </a:solidFill>
                <a:latin typeface="Aptos"/>
              </a:rPr>
              <a:t>=</a:t>
            </a:r>
            <a:r>
              <a:rPr lang="en-US" sz="1600" b="0" i="0" dirty="0">
                <a:solidFill>
                  <a:srgbClr val="667085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667085"/>
                </a:solidFill>
                <a:latin typeface="Aptos"/>
              </a:rPr>
              <a:t>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" y="5641848"/>
            <a:ext cx="11027664" cy="813816"/>
          </a:xfrm>
          <a:prstGeom prst="roundRect">
            <a:avLst/>
          </a:prstGeom>
          <a:solidFill>
            <a:srgbClr val="EEF7FB"/>
          </a:solidFill>
          <a:ln w="12700">
            <a:solidFill>
              <a:srgbClr val="EE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2272" y="5896540"/>
            <a:ext cx="129844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0EA5D9"/>
                </a:solidFill>
                <a:latin typeface="Aptos"/>
              </a:rPr>
              <a:t>QUESTION</a:t>
            </a:r>
            <a:endParaRPr sz="700" b="1" i="0" dirty="0">
              <a:solidFill>
                <a:srgbClr val="0EA5D9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75104" y="5896541"/>
            <a:ext cx="98389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dirty="0">
                <a:solidFill>
                  <a:srgbClr val="103B7B"/>
                </a:solidFill>
                <a:latin typeface="Aptos"/>
              </a:rPr>
              <a:t>Which information is supplied by the gradient, and which by the Hessian?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D7AEA6-ADD4-4478-4396-364302FA5C8F}"/>
              </a:ext>
            </a:extLst>
          </p:cNvPr>
          <p:cNvSpPr txBox="1"/>
          <p:nvPr/>
        </p:nvSpPr>
        <p:spPr>
          <a:xfrm>
            <a:off x="329184" y="126230"/>
            <a:ext cx="177393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FD6FBD-7DAA-A24C-EE7A-6A2EB4C63411}"/>
              </a:ext>
            </a:extLst>
          </p:cNvPr>
          <p:cNvSpPr txBox="1"/>
          <p:nvPr/>
        </p:nvSpPr>
        <p:spPr>
          <a:xfrm>
            <a:off x="9345168" y="137771"/>
            <a:ext cx="24688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dirty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630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" b="1" i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463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 i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103B7B"/>
                </a:solidFill>
                <a:latin typeface="Aptos"/>
              </a:rPr>
              <a:t>Shapes are part of the mathematics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200817"/>
            <a:ext cx="11064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667085"/>
                </a:solidFill>
                <a:latin typeface="Aptos"/>
              </a:rPr>
              <a:t>Correct derivatives start with a consistent convention for vectors, matrices and array shapes.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30" b="0" i="0">
                <a:solidFill>
                  <a:srgbClr val="6B7A90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52862"/>
            <a:ext cx="11164824" cy="658368"/>
          </a:xfrm>
          <a:prstGeom prst="roundRect">
            <a:avLst/>
          </a:prstGeom>
          <a:solidFill>
            <a:srgbClr val="103B7B"/>
          </a:solidFill>
          <a:ln w="12700">
            <a:solidFill>
              <a:srgbClr val="103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" y="1916168"/>
            <a:ext cx="104241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i="0" dirty="0">
                <a:solidFill>
                  <a:srgbClr val="FFFFFF"/>
                </a:solidFill>
                <a:latin typeface="Aptos"/>
              </a:rPr>
              <a:t>X ∈ </a:t>
            </a:r>
            <a:r>
              <a:rPr sz="2400" i="0" dirty="0" err="1">
                <a:solidFill>
                  <a:srgbClr val="FFFFFF"/>
                </a:solidFill>
                <a:latin typeface="Aptos"/>
              </a:rPr>
              <a:t>ℝ</a:t>
            </a:r>
            <a:r>
              <a:rPr sz="2400" i="0" dirty="0">
                <a:solidFill>
                  <a:srgbClr val="FFFFFF"/>
                </a:solidFill>
                <a:latin typeface="Aptos"/>
              </a:rPr>
              <a:t>ⁿˣᵈ   ·   w ∈ </a:t>
            </a:r>
            <a:r>
              <a:rPr sz="2400" i="0" dirty="0" err="1">
                <a:solidFill>
                  <a:srgbClr val="FFFFFF"/>
                </a:solidFill>
                <a:latin typeface="Aptos"/>
              </a:rPr>
              <a:t>ℝ</a:t>
            </a:r>
            <a:r>
              <a:rPr sz="2400" i="0" dirty="0">
                <a:solidFill>
                  <a:srgbClr val="FFFFFF"/>
                </a:solidFill>
                <a:latin typeface="Aptos"/>
              </a:rPr>
              <a:t>ᵈ   ·   y ∈ </a:t>
            </a:r>
            <a:r>
              <a:rPr sz="2400" i="0" dirty="0" err="1">
                <a:solidFill>
                  <a:srgbClr val="FFFFFF"/>
                </a:solidFill>
                <a:latin typeface="Aptos"/>
              </a:rPr>
              <a:t>ℝ</a:t>
            </a:r>
            <a:r>
              <a:rPr sz="2400" i="0" dirty="0">
                <a:solidFill>
                  <a:srgbClr val="FFFFFF"/>
                </a:solidFill>
                <a:latin typeface="Aptos"/>
              </a:rPr>
              <a:t>ⁿ   ·   </a:t>
            </a:r>
            <a:r>
              <a:rPr sz="2400" i="0" dirty="0" err="1">
                <a:solidFill>
                  <a:srgbClr val="FFFFFF"/>
                </a:solidFill>
                <a:latin typeface="Aptos"/>
              </a:rPr>
              <a:t>Xw</a:t>
            </a:r>
            <a:r>
              <a:rPr sz="2400" i="0" dirty="0">
                <a:solidFill>
                  <a:srgbClr val="FFFFFF"/>
                </a:solidFill>
                <a:latin typeface="Aptos"/>
              </a:rPr>
              <a:t> ∈ </a:t>
            </a:r>
            <a:r>
              <a:rPr sz="2400" i="0" dirty="0" err="1">
                <a:solidFill>
                  <a:srgbClr val="FFFFFF"/>
                </a:solidFill>
                <a:latin typeface="Aptos"/>
              </a:rPr>
              <a:t>ℝ</a:t>
            </a:r>
            <a:r>
              <a:rPr sz="2400" i="0" dirty="0">
                <a:solidFill>
                  <a:srgbClr val="FFFFFF"/>
                </a:solidFill>
                <a:latin typeface="Aptos"/>
              </a:rPr>
              <a:t>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" y="2873502"/>
            <a:ext cx="3922776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12064" y="2873502"/>
            <a:ext cx="54864" cy="2057400"/>
          </a:xfrm>
          <a:prstGeom prst="rect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2983230"/>
            <a:ext cx="34952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dirty="0" err="1">
                <a:solidFill>
                  <a:srgbClr val="2A3957"/>
                </a:solidFill>
                <a:latin typeface="Consolas"/>
              </a:rPr>
              <a:t>X.shape</a:t>
            </a:r>
            <a:r>
              <a:rPr sz="2000" dirty="0">
                <a:solidFill>
                  <a:srgbClr val="2A3957"/>
                </a:solidFill>
                <a:latin typeface="Consolas"/>
              </a:rPr>
              <a:t>        # (n, 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dirty="0" err="1">
                <a:solidFill>
                  <a:srgbClr val="2A3957"/>
                </a:solidFill>
                <a:latin typeface="Consolas"/>
              </a:rPr>
              <a:t>w.shape</a:t>
            </a:r>
            <a:r>
              <a:rPr sz="2000" dirty="0">
                <a:solidFill>
                  <a:srgbClr val="2A3957"/>
                </a:solidFill>
                <a:latin typeface="Consolas"/>
              </a:rPr>
              <a:t>        # (d,)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dirty="0" err="1">
                <a:solidFill>
                  <a:srgbClr val="2A3957"/>
                </a:solidFill>
                <a:latin typeface="Consolas"/>
              </a:rPr>
              <a:t>y.shape</a:t>
            </a:r>
            <a:r>
              <a:rPr sz="2000" dirty="0">
                <a:solidFill>
                  <a:srgbClr val="2A3957"/>
                </a:solidFill>
                <a:latin typeface="Consolas"/>
              </a:rPr>
              <a:t>        # (n,)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dirty="0">
                <a:solidFill>
                  <a:srgbClr val="2A3957"/>
                </a:solidFill>
                <a:latin typeface="Consolas"/>
              </a:rPr>
              <a:t>(X @ w).shape  # (n,)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7458" y="2873502"/>
            <a:ext cx="2949704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4972049" y="3001518"/>
            <a:ext cx="232257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BUG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90207" y="2916543"/>
            <a:ext cx="232257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03B7B"/>
                </a:solidFill>
                <a:latin typeface="Aptos"/>
              </a:rPr>
              <a:t>Broadcasting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2048" y="3329529"/>
            <a:ext cx="2651761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667085"/>
                </a:solidFill>
                <a:latin typeface="Aptos"/>
              </a:rPr>
              <a:t>Accidental (n,1) arrays can silently change the computation.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873502"/>
            <a:ext cx="326440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8" name="TextBox 17"/>
          <p:cNvSpPr txBox="1"/>
          <p:nvPr/>
        </p:nvSpPr>
        <p:spPr>
          <a:xfrm>
            <a:off x="8439912" y="3001518"/>
            <a:ext cx="293522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74B9B"/>
                </a:solidFill>
                <a:latin typeface="Aptos"/>
              </a:rPr>
              <a:t>BUG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3416" y="2931598"/>
            <a:ext cx="293522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03B7B"/>
                </a:solidFill>
                <a:latin typeface="Aptos"/>
              </a:rPr>
              <a:t>Multiplication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3296353"/>
            <a:ext cx="293522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667085"/>
                </a:solidFill>
                <a:latin typeface="Aptos"/>
              </a:rPr>
              <a:t>X @ X.T is not the same object </a:t>
            </a:r>
            <a:endParaRPr lang="ru-RU" sz="1400" b="0" i="0" dirty="0">
              <a:solidFill>
                <a:srgbClr val="667085"/>
              </a:solidFill>
              <a:latin typeface="Aptos"/>
            </a:endParaRPr>
          </a:p>
          <a:p>
            <a:pPr algn="l"/>
            <a:r>
              <a:rPr sz="1400" b="0" i="0" dirty="0">
                <a:solidFill>
                  <a:srgbClr val="667085"/>
                </a:solidFill>
                <a:latin typeface="Aptos"/>
              </a:rPr>
              <a:t>as X.T @ X.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7458" y="4025646"/>
            <a:ext cx="2949704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2" name="TextBox 21"/>
          <p:cNvSpPr txBox="1"/>
          <p:nvPr/>
        </p:nvSpPr>
        <p:spPr>
          <a:xfrm>
            <a:off x="4972049" y="4153662"/>
            <a:ext cx="232257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BUG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90207" y="4069913"/>
            <a:ext cx="232257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03B7B"/>
                </a:solidFill>
                <a:latin typeface="Aptos"/>
              </a:rPr>
              <a:t>Scaling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72048" y="4444484"/>
            <a:ext cx="2537461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667085"/>
                </a:solidFill>
                <a:latin typeface="Aptos"/>
              </a:rPr>
              <a:t>Do not sum the loss and differentiate its mean.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4025646"/>
            <a:ext cx="326440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6" name="TextBox 25"/>
          <p:cNvSpPr txBox="1"/>
          <p:nvPr/>
        </p:nvSpPr>
        <p:spPr>
          <a:xfrm>
            <a:off x="8439912" y="4153662"/>
            <a:ext cx="293522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74B9B"/>
                </a:solidFill>
                <a:latin typeface="Aptos"/>
              </a:rPr>
              <a:t>BUG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4081177"/>
            <a:ext cx="293522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03B7B"/>
                </a:solidFill>
                <a:latin typeface="Aptos"/>
              </a:rPr>
              <a:t>Operator choice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4444484"/>
            <a:ext cx="293522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667085"/>
                </a:solidFill>
                <a:latin typeface="Aptos"/>
              </a:rPr>
              <a:t>Elementwise * and matrix @ are not interchangeable.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" y="5433822"/>
            <a:ext cx="11027664" cy="530352"/>
          </a:xfrm>
          <a:prstGeom prst="roundRect">
            <a:avLst/>
          </a:prstGeom>
          <a:solidFill>
            <a:srgbClr val="EEF7FB"/>
          </a:solidFill>
          <a:ln w="12700">
            <a:solidFill>
              <a:srgbClr val="EE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2272" y="5572876"/>
            <a:ext cx="138074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0EA5D9"/>
                </a:solidFill>
                <a:latin typeface="Aptos"/>
              </a:rPr>
              <a:t>TAKEAWAY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21992" y="5569643"/>
            <a:ext cx="91531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dirty="0">
                <a:solidFill>
                  <a:srgbClr val="103B7B"/>
                </a:solidFill>
                <a:latin typeface="Aptos"/>
              </a:rPr>
              <a:t>If the shapes are wrong, the calculus result is irrelevant — debug dimensions first.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630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" b="1" i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463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 i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103B7B"/>
                </a:solidFill>
                <a:latin typeface="Aptos"/>
              </a:rPr>
              <a:t>Differentials give a repeatable derivation recipe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189387"/>
            <a:ext cx="11064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667085"/>
                </a:solidFill>
                <a:latin typeface="Aptos"/>
              </a:rPr>
              <a:t>Use the same five-step routine every time you derive a vector gradient.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30" b="0" i="0">
                <a:solidFill>
                  <a:srgbClr val="6B7A90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837944"/>
            <a:ext cx="192024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9" name="Rounded Rectangle 8"/>
          <p:cNvSpPr/>
          <p:nvPr/>
        </p:nvSpPr>
        <p:spPr>
          <a:xfrm>
            <a:off x="658368" y="2039112"/>
            <a:ext cx="384048" cy="228600"/>
          </a:xfrm>
          <a:prstGeom prst="roundRect">
            <a:avLst/>
          </a:prstGeom>
          <a:solidFill>
            <a:srgbClr val="0EA5D9"/>
          </a:solidFill>
          <a:ln w="12700">
            <a:solidFill>
              <a:srgbClr val="0EA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0" name="TextBox 9"/>
          <p:cNvSpPr txBox="1"/>
          <p:nvPr/>
        </p:nvSpPr>
        <p:spPr>
          <a:xfrm>
            <a:off x="658368" y="2030303"/>
            <a:ext cx="38404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77440"/>
            <a:ext cx="162763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03B7B"/>
                </a:solidFill>
                <a:latin typeface="Aptos"/>
              </a:rPr>
              <a:t>Write </a:t>
            </a:r>
            <a:r>
              <a:rPr sz="1600" b="1" i="0" dirty="0" err="1">
                <a:solidFill>
                  <a:srgbClr val="103B7B"/>
                </a:solidFill>
                <a:latin typeface="Aptos"/>
              </a:rPr>
              <a:t>df</a:t>
            </a:r>
            <a:r>
              <a:rPr sz="1600" b="1" i="0" dirty="0">
                <a:solidFill>
                  <a:srgbClr val="103B7B"/>
                </a:solidFill>
                <a:latin typeface="Aptos"/>
              </a:rPr>
              <a:t> using product and chain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4912" y="1837944"/>
            <a:ext cx="192024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3" name="Rounded Rectangle 12"/>
          <p:cNvSpPr/>
          <p:nvPr/>
        </p:nvSpPr>
        <p:spPr>
          <a:xfrm>
            <a:off x="2871216" y="2039112"/>
            <a:ext cx="384048" cy="228600"/>
          </a:xfrm>
          <a:prstGeom prst="roundRect">
            <a:avLst/>
          </a:prstGeom>
          <a:solidFill>
            <a:srgbClr val="0EA5D9"/>
          </a:solidFill>
          <a:ln w="12700">
            <a:solidFill>
              <a:srgbClr val="0EA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4" name="TextBox 13"/>
          <p:cNvSpPr txBox="1"/>
          <p:nvPr/>
        </p:nvSpPr>
        <p:spPr>
          <a:xfrm>
            <a:off x="2871216" y="2030303"/>
            <a:ext cx="38404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1216" y="2377440"/>
            <a:ext cx="162763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03B7B"/>
                </a:solidFill>
                <a:latin typeface="Aptos"/>
              </a:rPr>
              <a:t>Move every dx to the final position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1837944"/>
            <a:ext cx="192024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7" name="Rounded Rectangle 16"/>
          <p:cNvSpPr/>
          <p:nvPr/>
        </p:nvSpPr>
        <p:spPr>
          <a:xfrm>
            <a:off x="5084064" y="2039112"/>
            <a:ext cx="384048" cy="228600"/>
          </a:xfrm>
          <a:prstGeom prst="roundRect">
            <a:avLst/>
          </a:prstGeom>
          <a:solidFill>
            <a:srgbClr val="0EA5D9"/>
          </a:solidFill>
          <a:ln w="12700">
            <a:solidFill>
              <a:srgbClr val="0EA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8" name="TextBox 17"/>
          <p:cNvSpPr txBox="1"/>
          <p:nvPr/>
        </p:nvSpPr>
        <p:spPr>
          <a:xfrm>
            <a:off x="5084064" y="2030303"/>
            <a:ext cx="38404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2377440"/>
            <a:ext cx="1453896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03B7B"/>
                </a:solidFill>
                <a:latin typeface="Aptos"/>
              </a:rPr>
              <a:t>Rewrite </a:t>
            </a:r>
            <a:r>
              <a:rPr sz="1600" b="1" i="0" dirty="0" err="1">
                <a:solidFill>
                  <a:srgbClr val="103B7B"/>
                </a:solidFill>
                <a:latin typeface="Aptos"/>
              </a:rPr>
              <a:t>df</a:t>
            </a:r>
            <a:r>
              <a:rPr sz="1600" b="1" i="0" dirty="0">
                <a:solidFill>
                  <a:srgbClr val="103B7B"/>
                </a:solidFill>
                <a:latin typeface="Aptos"/>
              </a:rPr>
              <a:t> as an inner product ⟨g,</a:t>
            </a:r>
            <a:r>
              <a:rPr lang="ru-RU" sz="16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1600" b="1" i="0" dirty="0">
                <a:solidFill>
                  <a:srgbClr val="103B7B"/>
                </a:solidFill>
                <a:latin typeface="Aptos"/>
              </a:rPr>
              <a:t>dx⟩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50608" y="1837944"/>
            <a:ext cx="192024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21" name="Rounded Rectangle 20"/>
          <p:cNvSpPr/>
          <p:nvPr/>
        </p:nvSpPr>
        <p:spPr>
          <a:xfrm>
            <a:off x="7296912" y="2039112"/>
            <a:ext cx="384048" cy="228600"/>
          </a:xfrm>
          <a:prstGeom prst="roundRect">
            <a:avLst/>
          </a:prstGeom>
          <a:solidFill>
            <a:srgbClr val="374B9B"/>
          </a:solidFill>
          <a:ln w="12700">
            <a:solidFill>
              <a:srgbClr val="374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22" name="TextBox 21"/>
          <p:cNvSpPr txBox="1"/>
          <p:nvPr/>
        </p:nvSpPr>
        <p:spPr>
          <a:xfrm>
            <a:off x="7296912" y="2030303"/>
            <a:ext cx="38404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2377440"/>
            <a:ext cx="16276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03B7B"/>
                </a:solidFill>
                <a:latin typeface="Aptos"/>
              </a:rPr>
              <a:t>Read off g = ∇f(x)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63456" y="1837944"/>
            <a:ext cx="192024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25" name="Rounded Rectangle 24"/>
          <p:cNvSpPr/>
          <p:nvPr/>
        </p:nvSpPr>
        <p:spPr>
          <a:xfrm>
            <a:off x="9509760" y="2039112"/>
            <a:ext cx="384048" cy="228600"/>
          </a:xfrm>
          <a:prstGeom prst="roundRect">
            <a:avLst/>
          </a:prstGeom>
          <a:solidFill>
            <a:srgbClr val="374B9B"/>
          </a:solidFill>
          <a:ln w="12700">
            <a:solidFill>
              <a:srgbClr val="374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26" name="TextBox 25"/>
          <p:cNvSpPr txBox="1"/>
          <p:nvPr/>
        </p:nvSpPr>
        <p:spPr>
          <a:xfrm>
            <a:off x="9509760" y="2030303"/>
            <a:ext cx="38404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377440"/>
            <a:ext cx="1773936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03B7B"/>
                </a:solidFill>
                <a:latin typeface="Aptos"/>
              </a:rPr>
              <a:t>Check that shape(g) matches shape(x)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" y="3721608"/>
            <a:ext cx="11027664" cy="9784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6290" y="3933813"/>
            <a:ext cx="1371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0EA5D9"/>
                </a:solidFill>
                <a:latin typeface="Aptos"/>
              </a:rPr>
              <a:t>USEFUL IDENTITIES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56923"/>
            <a:ext cx="101498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>
                <a:solidFill>
                  <a:srgbClr val="103B7B"/>
                </a:solidFill>
                <a:latin typeface="Aptos"/>
              </a:rPr>
              <a:t>d(Ax)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=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A dx    ·    d(</a:t>
            </a:r>
            <a:r>
              <a:rPr sz="2000" b="1" i="0" dirty="0" err="1">
                <a:solidFill>
                  <a:srgbClr val="103B7B"/>
                </a:solidFill>
                <a:latin typeface="Aptos"/>
              </a:rPr>
              <a:t>xᵀy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)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=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 err="1">
                <a:solidFill>
                  <a:srgbClr val="103B7B"/>
                </a:solidFill>
                <a:latin typeface="Aptos"/>
              </a:rPr>
              <a:t>yᵀdx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 + </a:t>
            </a:r>
            <a:r>
              <a:rPr sz="2000" b="1" i="0" dirty="0" err="1">
                <a:solidFill>
                  <a:srgbClr val="103B7B"/>
                </a:solidFill>
                <a:latin typeface="Aptos"/>
              </a:rPr>
              <a:t>xᵀdy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    ·    d(</a:t>
            </a:r>
            <a:r>
              <a:rPr sz="2000" b="1" i="0" dirty="0" err="1">
                <a:solidFill>
                  <a:srgbClr val="103B7B"/>
                </a:solidFill>
                <a:latin typeface="Aptos"/>
              </a:rPr>
              <a:t>xᵀAx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)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=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⟨(A+Aᵀ)x,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dx⟩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" y="5010911"/>
            <a:ext cx="11027664" cy="657701"/>
          </a:xfrm>
          <a:prstGeom prst="roundRect">
            <a:avLst/>
          </a:prstGeom>
          <a:solidFill>
            <a:srgbClr val="EEF7FB"/>
          </a:solidFill>
          <a:ln w="12700">
            <a:solidFill>
              <a:srgbClr val="EE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6290" y="5210069"/>
            <a:ext cx="192862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0EA5D9"/>
                </a:solidFill>
                <a:latin typeface="Aptos"/>
              </a:rPr>
              <a:t>WHY THIS HELPS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25496" y="5210069"/>
            <a:ext cx="865022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dirty="0">
                <a:solidFill>
                  <a:srgbClr val="103B7B"/>
                </a:solidFill>
                <a:latin typeface="Aptos"/>
              </a:rPr>
              <a:t>It avoids coordinate-wise expansion and makes matrix calculus systematic.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630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" b="1" i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463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 i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03B7B"/>
                </a:solidFill>
                <a:latin typeface="Aptos"/>
              </a:rPr>
              <a:t>Exercise 1 — derive a quadratic gradient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18872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67085"/>
                </a:solidFill>
                <a:latin typeface="Aptos"/>
              </a:rPr>
              <a:t>Use differentials, not coordinate-by-coordinate expansion.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30" b="0" i="0">
                <a:solidFill>
                  <a:srgbClr val="6B7A90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645920"/>
            <a:ext cx="11027664" cy="10424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1773936"/>
            <a:ext cx="10698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OBJECTIVE</a:t>
            </a:r>
          </a:p>
        </p:txBody>
      </p:sp>
      <p:pic>
        <p:nvPicPr>
          <p:cNvPr id="10" name="Picture 9" descr="quad_ob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09" y="1874520"/>
            <a:ext cx="6362781" cy="61098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12064" y="2999232"/>
            <a:ext cx="5431536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76656" y="3273551"/>
            <a:ext cx="237744" cy="237744"/>
          </a:xfrm>
          <a:prstGeom prst="ellipse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3273551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3182112"/>
            <a:ext cx="462686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03B7B"/>
                </a:solidFill>
                <a:latin typeface="Aptos"/>
              </a:rPr>
              <a:t>Find ∇f(x) without assuming that A is symmetric.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2999232"/>
            <a:ext cx="5431536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272783" y="3273551"/>
            <a:ext cx="237744" cy="237744"/>
          </a:xfrm>
          <a:prstGeom prst="ellipse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72783" y="3273551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44" y="3182112"/>
            <a:ext cx="462686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03B7B"/>
                </a:solidFill>
                <a:latin typeface="Aptos"/>
              </a:rPr>
              <a:t>Find the Hessian Hf(x).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" y="3986784"/>
            <a:ext cx="5431536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76656" y="4261104"/>
            <a:ext cx="237744" cy="237744"/>
          </a:xfrm>
          <a:prstGeom prst="ellipse">
            <a:avLst/>
          </a:prstGeom>
          <a:solidFill>
            <a:srgbClr val="37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426110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" y="4169664"/>
            <a:ext cx="462686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03B7B"/>
                </a:solidFill>
                <a:latin typeface="Aptos"/>
              </a:rPr>
              <a:t>Which part of A actually influences xᵀAx?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08192" y="3986784"/>
            <a:ext cx="5431536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272783" y="4261104"/>
            <a:ext cx="237744" cy="237744"/>
          </a:xfrm>
          <a:prstGeom prst="ellipse">
            <a:avLst/>
          </a:prstGeom>
          <a:solidFill>
            <a:srgbClr val="37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72783" y="426110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8544" y="4169664"/>
            <a:ext cx="462686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03B7B"/>
                </a:solidFill>
                <a:latin typeface="Aptos"/>
              </a:rPr>
              <a:t>When is the stationary point unique?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" y="5102352"/>
            <a:ext cx="110276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667085"/>
                </a:solidFill>
                <a:latin typeface="Aptos"/>
              </a:rPr>
              <a:t>Hint: the quadratic form depends only on the symmetric part of 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630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" b="1" i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463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 i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103B7B"/>
                </a:solidFill>
                <a:latin typeface="Aptos"/>
              </a:rPr>
              <a:t>Exercise 1 — solution and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18872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67085"/>
                </a:solidFill>
                <a:latin typeface="Aptos"/>
              </a:rPr>
              <a:t>The skew-symmetric part disappears; only the symmetric part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30" b="0" i="0">
                <a:solidFill>
                  <a:srgbClr val="6B7A90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627632"/>
            <a:ext cx="53949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1755648"/>
            <a:ext cx="50657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GRADIENT</a:t>
            </a:r>
          </a:p>
        </p:txBody>
      </p:sp>
      <p:pic>
        <p:nvPicPr>
          <p:cNvPr id="10" name="Picture 9" descr="quad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2" y="1794150"/>
            <a:ext cx="3351274" cy="54478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44768" y="1627632"/>
            <a:ext cx="53949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59" y="1755648"/>
            <a:ext cx="50657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HESSIAN</a:t>
            </a:r>
          </a:p>
        </p:txBody>
      </p:sp>
      <p:pic>
        <p:nvPicPr>
          <p:cNvPr id="13" name="Picture 12" descr="quad_h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780" y="1794149"/>
            <a:ext cx="2869170" cy="55561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200400" y="2724912"/>
            <a:ext cx="562356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64992" y="2843784"/>
            <a:ext cx="52943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KEY FACT</a:t>
            </a:r>
          </a:p>
        </p:txBody>
      </p:sp>
      <p:pic>
        <p:nvPicPr>
          <p:cNvPr id="16" name="Picture 15" descr="skew_z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597" y="2872980"/>
            <a:ext cx="1818854" cy="32501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12064" y="3566160"/>
            <a:ext cx="3529584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" y="3712463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995928"/>
            <a:ext cx="3200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03B7B"/>
                </a:solidFill>
                <a:latin typeface="Aptos"/>
              </a:rPr>
              <a:t>Only ½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(A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+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Aᵀ)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4407408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667085"/>
                </a:solidFill>
                <a:latin typeface="Aptos"/>
              </a:rPr>
              <a:t>The antisymmetric part cannot change the scalar value </a:t>
            </a:r>
            <a:r>
              <a:rPr sz="1400" b="0" i="0" dirty="0" err="1">
                <a:solidFill>
                  <a:srgbClr val="667085"/>
                </a:solidFill>
                <a:latin typeface="Aptos"/>
              </a:rPr>
              <a:t>xᵀAx</a:t>
            </a:r>
            <a:r>
              <a:rPr sz="1400" b="0" i="0" dirty="0">
                <a:solidFill>
                  <a:srgbClr val="667085"/>
                </a:solidFill>
                <a:latin typeface="Aptos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1104" y="3566160"/>
            <a:ext cx="3529584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25696" y="3712463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74B9B"/>
                </a:solidFill>
                <a:latin typeface="Aptos"/>
              </a:rPr>
              <a:t>STATIONARY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3995928"/>
            <a:ext cx="3200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03B7B"/>
                </a:solidFill>
                <a:latin typeface="Aptos"/>
              </a:rPr>
              <a:t>Solve ½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(A+Aᵀ)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x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+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b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=0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1980" y="4453128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667085"/>
                </a:solidFill>
                <a:latin typeface="Aptos"/>
              </a:rPr>
              <a:t>Uniqueness needs the symmetric part to be nonsingular.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0144" y="3566160"/>
            <a:ext cx="3529584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74736" y="3712463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UNIQUENESS OF MINIMIZER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3995928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03B7B"/>
                </a:solidFill>
                <a:latin typeface="Aptos"/>
              </a:rPr>
              <a:t>Need positive definiteness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4407408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667085"/>
                </a:solidFill>
                <a:latin typeface="Aptos"/>
              </a:rPr>
              <a:t>If ½(A+Aᵀ) ≻ 0, the quadratic has a unique global minimizer.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" y="5175504"/>
            <a:ext cx="3529584" cy="804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12064" y="5175504"/>
            <a:ext cx="54864" cy="804672"/>
          </a:xfrm>
          <a:prstGeom prst="rect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0867" y="5393174"/>
            <a:ext cx="305853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def </a:t>
            </a:r>
            <a:r>
              <a:rPr sz="1200" dirty="0" err="1">
                <a:solidFill>
                  <a:srgbClr val="2A3957"/>
                </a:solidFill>
                <a:latin typeface="Consolas"/>
              </a:rPr>
              <a:t>quadratic_value</a:t>
            </a:r>
            <a:r>
              <a:rPr sz="1200" dirty="0">
                <a:solidFill>
                  <a:srgbClr val="2A3957"/>
                </a:solidFill>
                <a:latin typeface="Consolas"/>
              </a:rPr>
              <a:t>(x, A, b, c=0.0):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    return 0.5*x @ A @ x + b @ x + 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61104" y="5175504"/>
            <a:ext cx="3529584" cy="804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61104" y="5175504"/>
            <a:ext cx="54864" cy="804672"/>
          </a:xfrm>
          <a:prstGeom prst="rect">
            <a:avLst/>
          </a:prstGeom>
          <a:solidFill>
            <a:srgbClr val="37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35424" y="5388719"/>
            <a:ext cx="2718693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def </a:t>
            </a:r>
            <a:r>
              <a:rPr sz="1200" dirty="0" err="1">
                <a:solidFill>
                  <a:srgbClr val="2A3957"/>
                </a:solidFill>
                <a:latin typeface="Consolas"/>
              </a:rPr>
              <a:t>quadratic_grad</a:t>
            </a:r>
            <a:r>
              <a:rPr sz="1200" dirty="0">
                <a:solidFill>
                  <a:srgbClr val="2A3957"/>
                </a:solidFill>
                <a:latin typeface="Consolas"/>
              </a:rPr>
              <a:t>(x, A, b):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    return 0.5*(A + A.T) @ x + 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10144" y="5175504"/>
            <a:ext cx="3529584" cy="804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10144" y="5175504"/>
            <a:ext cx="54864" cy="804672"/>
          </a:xfrm>
          <a:prstGeom prst="rect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05449" y="5388719"/>
            <a:ext cx="2123979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def </a:t>
            </a:r>
            <a:r>
              <a:rPr sz="1200" dirty="0" err="1">
                <a:solidFill>
                  <a:srgbClr val="2A3957"/>
                </a:solidFill>
                <a:latin typeface="Consolas"/>
              </a:rPr>
              <a:t>quadratic_hessian</a:t>
            </a:r>
            <a:r>
              <a:rPr sz="1200" dirty="0">
                <a:solidFill>
                  <a:srgbClr val="2A3957"/>
                </a:solidFill>
                <a:latin typeface="Consolas"/>
              </a:rPr>
              <a:t>(A):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    return 0.5*(A + A.T)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630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" b="1" i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463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 i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103B7B"/>
                </a:solidFill>
                <a:latin typeface="Aptos"/>
              </a:rPr>
              <a:t>A Hessian classifier needs tolerance, not exact 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18872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67085"/>
                </a:solidFill>
                <a:latin typeface="Aptos"/>
              </a:rPr>
              <a:t>Numerical eigenvalues should be interpreted with a tolerance and with explicit symmetrization.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30" b="0" i="0">
                <a:solidFill>
                  <a:srgbClr val="6B7A90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664208"/>
            <a:ext cx="5632704" cy="413308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" y="1664208"/>
            <a:ext cx="54864" cy="4133087"/>
          </a:xfrm>
          <a:prstGeom prst="rect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7581" y="2530309"/>
            <a:ext cx="5161669" cy="22159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def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classify_hessian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(H,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tol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=1e-8):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   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eig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 =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np.linalg.eigvalsh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(0.5*(H + H.T))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    if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np.all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eig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 &gt;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tol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        return "strict local minimum"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    if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np.all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eig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 &lt; -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tol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        return "strict local maximum"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    if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eig.min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() &lt; -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tol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 and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eig.max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() &gt;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tol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        return "saddle point"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    return "second-order test is inconclusive"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64208"/>
            <a:ext cx="5138928" cy="8538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1720409"/>
            <a:ext cx="48097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0EA5D9"/>
                </a:solidFill>
                <a:latin typeface="Aptos"/>
              </a:rPr>
              <a:t>CASE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924507"/>
            <a:ext cx="480974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03B7B"/>
                </a:solidFill>
                <a:latin typeface="Aptos"/>
              </a:rPr>
              <a:t>All eigenvalues &gt; </a:t>
            </a:r>
            <a:r>
              <a:rPr sz="2000" b="1" i="0" dirty="0" err="1">
                <a:solidFill>
                  <a:srgbClr val="103B7B"/>
                </a:solidFill>
                <a:latin typeface="Aptos"/>
              </a:rPr>
              <a:t>tol</a:t>
            </a:r>
            <a:endParaRPr sz="2000" b="1" i="0" dirty="0">
              <a:solidFill>
                <a:srgbClr val="103B7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65392" y="2244547"/>
            <a:ext cx="48097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667085"/>
                </a:solidFill>
                <a:latin typeface="Aptos"/>
              </a:rPr>
              <a:t>Strict local minimum.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627256"/>
            <a:ext cx="5138928" cy="809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65392" y="2693883"/>
            <a:ext cx="48097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374B9B"/>
                </a:solidFill>
                <a:latin typeface="Aptos"/>
              </a:rPr>
              <a:t>CASE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885907"/>
            <a:ext cx="480974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03B7B"/>
                </a:solidFill>
                <a:latin typeface="Aptos"/>
              </a:rPr>
              <a:t>All eigenvalues &lt; −</a:t>
            </a:r>
            <a:r>
              <a:rPr sz="2000" b="1" i="0" dirty="0" err="1">
                <a:solidFill>
                  <a:srgbClr val="103B7B"/>
                </a:solidFill>
                <a:latin typeface="Aptos"/>
              </a:rPr>
              <a:t>tol</a:t>
            </a:r>
            <a:endParaRPr sz="2000" b="1" i="0" dirty="0">
              <a:solidFill>
                <a:srgbClr val="103B7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65392" y="3172301"/>
            <a:ext cx="48097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667085"/>
                </a:solidFill>
                <a:latin typeface="Aptos"/>
              </a:rPr>
              <a:t>Strict local maximum.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565491"/>
            <a:ext cx="5138928" cy="86868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65392" y="3639312"/>
            <a:ext cx="48097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F2994A"/>
                </a:solidFill>
                <a:latin typeface="Aptos"/>
              </a:rPr>
              <a:t>CASE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831336"/>
            <a:ext cx="480974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03B7B"/>
                </a:solidFill>
                <a:latin typeface="Aptos"/>
              </a:rPr>
              <a:t>Mixed signs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140895"/>
            <a:ext cx="48097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67085"/>
                </a:solidFill>
                <a:latin typeface="Aptos"/>
              </a:rPr>
              <a:t>Saddle point.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53042"/>
            <a:ext cx="5138928" cy="86868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65392" y="4649590"/>
            <a:ext cx="48097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2E9B6F"/>
                </a:solidFill>
                <a:latin typeface="Aptos"/>
              </a:rPr>
              <a:t>CASE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4791321"/>
            <a:ext cx="480974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03B7B"/>
                </a:solidFill>
                <a:latin typeface="Aptos"/>
              </a:rPr>
              <a:t>Near-zero eigenvalues remain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5138261"/>
            <a:ext cx="48097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667085"/>
                </a:solidFill>
                <a:latin typeface="Aptos"/>
              </a:rPr>
              <a:t>Second-order test is inconclusive.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513832"/>
            <a:ext cx="5138928" cy="868680"/>
          </a:xfrm>
          <a:prstGeom prst="roundRect">
            <a:avLst/>
          </a:prstGeom>
          <a:solidFill>
            <a:srgbClr val="EEF7FB"/>
          </a:solidFill>
          <a:ln w="12700">
            <a:solidFill>
              <a:srgbClr val="EE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5392" y="5792390"/>
            <a:ext cx="1417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0EA5D9"/>
                </a:solidFill>
                <a:latin typeface="Aptos"/>
              </a:rPr>
              <a:t>WHY </a:t>
            </a:r>
            <a:r>
              <a:rPr sz="1600" b="1" i="0" dirty="0" err="1">
                <a:solidFill>
                  <a:srgbClr val="0EA5D9"/>
                </a:solidFill>
                <a:latin typeface="Aptos"/>
              </a:rPr>
              <a:t>eigvalsh</a:t>
            </a:r>
            <a:r>
              <a:rPr sz="1600" b="1" i="0" dirty="0">
                <a:solidFill>
                  <a:srgbClr val="0EA5D9"/>
                </a:solidFill>
                <a:latin typeface="Aptos"/>
              </a:rP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5696045"/>
            <a:ext cx="3026664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dirty="0">
                <a:solidFill>
                  <a:srgbClr val="103B7B"/>
                </a:solidFill>
                <a:latin typeface="Aptos"/>
              </a:rPr>
              <a:t>Because the Hessian should be symmetric and real; </a:t>
            </a:r>
            <a:r>
              <a:rPr sz="1350" b="1" i="0" dirty="0" err="1">
                <a:solidFill>
                  <a:srgbClr val="103B7B"/>
                </a:solidFill>
                <a:latin typeface="Aptos"/>
              </a:rPr>
              <a:t>eigvalsh</a:t>
            </a:r>
            <a:r>
              <a:rPr sz="1350" b="1" i="0" dirty="0">
                <a:solidFill>
                  <a:srgbClr val="103B7B"/>
                </a:solidFill>
                <a:latin typeface="Aptos"/>
              </a:rPr>
              <a:t> is the right routine for that.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630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" b="1" i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463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 i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103B7B"/>
                </a:solidFill>
                <a:latin typeface="Aptos"/>
              </a:rPr>
              <a:t>Exercise 2 — classify four stationary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18872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667085"/>
                </a:solidFill>
                <a:latin typeface="Aptos"/>
              </a:rPr>
              <a:t>Use derivatives up to second order. If the Hessian is inconclusive, inspect the function directly.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30" b="0" i="0">
                <a:solidFill>
                  <a:srgbClr val="6B7A90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737360"/>
            <a:ext cx="5431536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1883664"/>
            <a:ext cx="510235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 dirty="0">
                <a:solidFill>
                  <a:srgbClr val="0EA5D9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157984"/>
            <a:ext cx="5102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>
                <a:solidFill>
                  <a:srgbClr val="103B7B"/>
                </a:solidFill>
                <a:latin typeface="Aptos"/>
              </a:rPr>
              <a:t>f₁(x,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y)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=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x²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+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2y²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560320"/>
            <a:ext cx="51023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dirty="0">
                <a:solidFill>
                  <a:srgbClr val="667085"/>
                </a:solidFill>
                <a:latin typeface="Aptos"/>
              </a:rPr>
              <a:t>Positive definite Hessian.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08192" y="1737360"/>
            <a:ext cx="5431536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72783" y="1883664"/>
            <a:ext cx="510235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 dirty="0">
                <a:solidFill>
                  <a:srgbClr val="374B9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157984"/>
            <a:ext cx="5102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>
                <a:solidFill>
                  <a:srgbClr val="103B7B"/>
                </a:solidFill>
                <a:latin typeface="Aptos"/>
              </a:rPr>
              <a:t>f₂(x,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y)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=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x²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−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y²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3" y="2560320"/>
            <a:ext cx="51023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dirty="0">
                <a:solidFill>
                  <a:srgbClr val="667085"/>
                </a:solidFill>
                <a:latin typeface="Aptos"/>
              </a:rPr>
              <a:t>Indefinite Hessian.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3328416"/>
            <a:ext cx="5431536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" y="3474720"/>
            <a:ext cx="510235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 dirty="0">
                <a:solidFill>
                  <a:srgbClr val="0EA5D9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3749040"/>
            <a:ext cx="5102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>
                <a:solidFill>
                  <a:srgbClr val="103B7B"/>
                </a:solidFill>
                <a:latin typeface="Aptos"/>
              </a:rPr>
              <a:t>f₃(x,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y)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=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x⁴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+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y⁴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4151376"/>
            <a:ext cx="51023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dirty="0">
                <a:solidFill>
                  <a:srgbClr val="667085"/>
                </a:solidFill>
                <a:latin typeface="Aptos"/>
              </a:rPr>
              <a:t>Flat Hessian at the origin.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08192" y="3328416"/>
            <a:ext cx="5431536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72783" y="3474720"/>
            <a:ext cx="510235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 dirty="0">
                <a:solidFill>
                  <a:srgbClr val="374B9B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3749040"/>
            <a:ext cx="5102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>
                <a:solidFill>
                  <a:srgbClr val="103B7B"/>
                </a:solidFill>
                <a:latin typeface="Aptos"/>
              </a:rPr>
              <a:t>f₄(x,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y)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=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x³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+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y²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3" y="4151376"/>
            <a:ext cx="51023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dirty="0">
                <a:solidFill>
                  <a:srgbClr val="667085"/>
                </a:solidFill>
                <a:latin typeface="Aptos"/>
              </a:rPr>
              <a:t>Semidefinite Hessian; check a direction.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5010912"/>
            <a:ext cx="11027664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1" dirty="0">
                <a:solidFill>
                  <a:srgbClr val="667085"/>
                </a:solidFill>
                <a:latin typeface="Aptos"/>
              </a:rPr>
              <a:t>For f₃ and f₄, the Hessian does not tell the full story. </a:t>
            </a:r>
            <a:endParaRPr lang="ru-RU" sz="2000" b="0" i="1" dirty="0">
              <a:solidFill>
                <a:srgbClr val="667085"/>
              </a:solidFill>
              <a:latin typeface="Aptos"/>
            </a:endParaRPr>
          </a:p>
          <a:p>
            <a:pPr algn="ctr"/>
            <a:r>
              <a:rPr sz="2000" b="0" i="1" dirty="0">
                <a:solidFill>
                  <a:srgbClr val="667085"/>
                </a:solidFill>
                <a:latin typeface="Aptos"/>
              </a:rPr>
              <a:t>You must inspect signs along carefully chosen directions.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630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" b="1" i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463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 i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103B7B"/>
                </a:solidFill>
                <a:latin typeface="Aptos"/>
              </a:rPr>
              <a:t>Exercise 2 — what the Hessian can and cannot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18872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667085"/>
                </a:solidFill>
                <a:latin typeface="Aptos"/>
              </a:rPr>
              <a:t>The Hessian detects curvature, but flat directions may require a direct argument.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30" b="0" i="0">
                <a:solidFill>
                  <a:srgbClr val="6B7A90"/>
                </a:solidFill>
                <a:latin typeface="Aptos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1644639"/>
            <a:ext cx="2743200" cy="402336"/>
          </a:xfrm>
          <a:prstGeom prst="rect">
            <a:avLst/>
          </a:prstGeom>
          <a:solidFill>
            <a:srgbClr val="103B7B"/>
          </a:solidFill>
          <a:ln w="12700">
            <a:solidFill>
              <a:srgbClr val="103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603504" y="1741703"/>
            <a:ext cx="2560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FUNCTION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55264" y="1644639"/>
            <a:ext cx="1097280" cy="402336"/>
          </a:xfrm>
          <a:prstGeom prst="rect">
            <a:avLst/>
          </a:prstGeom>
          <a:solidFill>
            <a:srgbClr val="103B7B"/>
          </a:solidFill>
          <a:ln w="12700">
            <a:solidFill>
              <a:srgbClr val="103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3346704" y="1741703"/>
            <a:ext cx="914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∇f(0)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1644639"/>
            <a:ext cx="2011680" cy="402336"/>
          </a:xfrm>
          <a:prstGeom prst="rect">
            <a:avLst/>
          </a:prstGeom>
          <a:solidFill>
            <a:srgbClr val="103B7B"/>
          </a:solidFill>
          <a:ln w="12700">
            <a:solidFill>
              <a:srgbClr val="103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4443983" y="1741703"/>
            <a:ext cx="1828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Hf(0)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64224" y="1644639"/>
            <a:ext cx="5175504" cy="402336"/>
          </a:xfrm>
          <a:prstGeom prst="rect">
            <a:avLst/>
          </a:prstGeom>
          <a:solidFill>
            <a:srgbClr val="103B7B"/>
          </a:solidFill>
          <a:ln w="12700">
            <a:solidFill>
              <a:srgbClr val="103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6455664" y="1741703"/>
            <a:ext cx="499262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2032894"/>
            <a:ext cx="2743200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603504" y="2165252"/>
            <a:ext cx="25603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 dirty="0">
                <a:solidFill>
                  <a:srgbClr val="103B7B"/>
                </a:solidFill>
                <a:latin typeface="Aptos"/>
              </a:rPr>
              <a:t>x²</a:t>
            </a:r>
            <a:r>
              <a:rPr lang="ru-RU" sz="2000" b="0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0" i="0" dirty="0">
                <a:solidFill>
                  <a:srgbClr val="103B7B"/>
                </a:solidFill>
                <a:latin typeface="Aptos"/>
              </a:rPr>
              <a:t>+</a:t>
            </a:r>
            <a:r>
              <a:rPr lang="ru-RU" sz="2000" b="0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0" i="0" dirty="0">
                <a:solidFill>
                  <a:srgbClr val="103B7B"/>
                </a:solidFill>
                <a:latin typeface="Aptos"/>
              </a:rPr>
              <a:t>2y²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55264" y="2032894"/>
            <a:ext cx="1097280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3346704" y="2165252"/>
            <a:ext cx="914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D2939"/>
                </a:solidFill>
                <a:latin typeface="Aptos"/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2544" y="2032894"/>
            <a:ext cx="2011680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4443983" y="2165252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D2939"/>
                </a:solidFill>
                <a:latin typeface="Aptos"/>
              </a:rPr>
              <a:t>diag(2,4)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64224" y="2032894"/>
            <a:ext cx="5175504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6455664" y="2165252"/>
            <a:ext cx="499262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03B7B"/>
                </a:solidFill>
                <a:latin typeface="Aptos"/>
              </a:rPr>
              <a:t>strict minimum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" y="2535858"/>
            <a:ext cx="2743200" cy="521207"/>
          </a:xfrm>
          <a:prstGeom prst="rect">
            <a:avLst/>
          </a:prstGeom>
          <a:solidFill>
            <a:srgbClr val="F6F8FC"/>
          </a:solidFill>
          <a:ln w="12700">
            <a:solidFill>
              <a:srgbClr val="E3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603504" y="2668218"/>
            <a:ext cx="25603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 dirty="0">
                <a:solidFill>
                  <a:srgbClr val="103B7B"/>
                </a:solidFill>
                <a:latin typeface="Aptos"/>
              </a:rPr>
              <a:t>x²</a:t>
            </a:r>
            <a:r>
              <a:rPr lang="ru-RU" sz="2000" b="0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0" i="0" dirty="0">
                <a:solidFill>
                  <a:srgbClr val="103B7B"/>
                </a:solidFill>
                <a:latin typeface="Aptos"/>
              </a:rPr>
              <a:t>−</a:t>
            </a:r>
            <a:r>
              <a:rPr lang="ru-RU" sz="2000" b="0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0" i="0" dirty="0">
                <a:solidFill>
                  <a:srgbClr val="103B7B"/>
                </a:solidFill>
                <a:latin typeface="Aptos"/>
              </a:rPr>
              <a:t>y²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55264" y="2535858"/>
            <a:ext cx="1097280" cy="521207"/>
          </a:xfrm>
          <a:prstGeom prst="rect">
            <a:avLst/>
          </a:prstGeom>
          <a:solidFill>
            <a:srgbClr val="F6F8FC"/>
          </a:solidFill>
          <a:ln w="12700">
            <a:solidFill>
              <a:srgbClr val="E3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3346704" y="2668218"/>
            <a:ext cx="914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D2939"/>
                </a:solidFill>
                <a:latin typeface="Aptos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52544" y="2535858"/>
            <a:ext cx="2011680" cy="521207"/>
          </a:xfrm>
          <a:prstGeom prst="rect">
            <a:avLst/>
          </a:prstGeom>
          <a:solidFill>
            <a:srgbClr val="F6F8FC"/>
          </a:solidFill>
          <a:ln w="12700">
            <a:solidFill>
              <a:srgbClr val="E3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800"/>
          </a:p>
        </p:txBody>
      </p:sp>
      <p:sp>
        <p:nvSpPr>
          <p:cNvPr id="29" name="TextBox 28"/>
          <p:cNvSpPr txBox="1"/>
          <p:nvPr/>
        </p:nvSpPr>
        <p:spPr>
          <a:xfrm>
            <a:off x="4443983" y="2668218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D2939"/>
                </a:solidFill>
                <a:latin typeface="Aptos"/>
              </a:rPr>
              <a:t>diag(2,−2)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4224" y="2535858"/>
            <a:ext cx="5175504" cy="521207"/>
          </a:xfrm>
          <a:prstGeom prst="rect">
            <a:avLst/>
          </a:prstGeom>
          <a:solidFill>
            <a:srgbClr val="F6F8FC"/>
          </a:solidFill>
          <a:ln w="12700">
            <a:solidFill>
              <a:srgbClr val="E3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6455664" y="2668218"/>
            <a:ext cx="499262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03B7B"/>
                </a:solidFill>
                <a:latin typeface="Aptos"/>
              </a:rPr>
              <a:t>saddle point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" y="3038824"/>
            <a:ext cx="2743200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603504" y="3171183"/>
            <a:ext cx="25603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 dirty="0">
                <a:solidFill>
                  <a:srgbClr val="103B7B"/>
                </a:solidFill>
                <a:latin typeface="Aptos"/>
              </a:rPr>
              <a:t>x⁴</a:t>
            </a:r>
            <a:r>
              <a:rPr lang="ru-RU" sz="2000" b="0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0" i="0" dirty="0">
                <a:solidFill>
                  <a:srgbClr val="103B7B"/>
                </a:solidFill>
                <a:latin typeface="Aptos"/>
              </a:rPr>
              <a:t>+</a:t>
            </a:r>
            <a:r>
              <a:rPr lang="ru-RU" sz="2000" b="0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0" i="0" dirty="0">
                <a:solidFill>
                  <a:srgbClr val="103B7B"/>
                </a:solidFill>
                <a:latin typeface="Aptos"/>
              </a:rPr>
              <a:t>y⁴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55264" y="3038824"/>
            <a:ext cx="1097280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800"/>
          </a:p>
        </p:txBody>
      </p:sp>
      <p:sp>
        <p:nvSpPr>
          <p:cNvPr id="35" name="TextBox 34"/>
          <p:cNvSpPr txBox="1"/>
          <p:nvPr/>
        </p:nvSpPr>
        <p:spPr>
          <a:xfrm>
            <a:off x="3346704" y="3171183"/>
            <a:ext cx="914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D2939"/>
                </a:solidFill>
                <a:latin typeface="Aptos"/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52544" y="3038824"/>
            <a:ext cx="2011680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800"/>
          </a:p>
        </p:txBody>
      </p:sp>
      <p:sp>
        <p:nvSpPr>
          <p:cNvPr id="37" name="TextBox 36"/>
          <p:cNvSpPr txBox="1"/>
          <p:nvPr/>
        </p:nvSpPr>
        <p:spPr>
          <a:xfrm>
            <a:off x="4443983" y="3171183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D2939"/>
                </a:solidFill>
                <a:latin typeface="Aptos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64224" y="3038824"/>
            <a:ext cx="5175504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800"/>
          </a:p>
        </p:txBody>
      </p:sp>
      <p:sp>
        <p:nvSpPr>
          <p:cNvPr id="39" name="TextBox 38"/>
          <p:cNvSpPr txBox="1"/>
          <p:nvPr/>
        </p:nvSpPr>
        <p:spPr>
          <a:xfrm>
            <a:off x="6455664" y="3171183"/>
            <a:ext cx="499262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03B7B"/>
                </a:solidFill>
                <a:latin typeface="Aptos"/>
              </a:rPr>
              <a:t>minimum; test inconclusive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" y="3541791"/>
            <a:ext cx="2743200" cy="521207"/>
          </a:xfrm>
          <a:prstGeom prst="rect">
            <a:avLst/>
          </a:prstGeom>
          <a:solidFill>
            <a:srgbClr val="F6F8FC"/>
          </a:solidFill>
          <a:ln w="12700">
            <a:solidFill>
              <a:srgbClr val="E3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800"/>
          </a:p>
        </p:txBody>
      </p:sp>
      <p:sp>
        <p:nvSpPr>
          <p:cNvPr id="41" name="TextBox 40"/>
          <p:cNvSpPr txBox="1"/>
          <p:nvPr/>
        </p:nvSpPr>
        <p:spPr>
          <a:xfrm>
            <a:off x="603504" y="3674149"/>
            <a:ext cx="25603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 dirty="0">
                <a:solidFill>
                  <a:srgbClr val="103B7B"/>
                </a:solidFill>
                <a:latin typeface="Aptos"/>
              </a:rPr>
              <a:t>x³</a:t>
            </a:r>
            <a:r>
              <a:rPr lang="ru-RU" sz="2000" b="0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0" i="0" dirty="0">
                <a:solidFill>
                  <a:srgbClr val="103B7B"/>
                </a:solidFill>
                <a:latin typeface="Aptos"/>
              </a:rPr>
              <a:t>+</a:t>
            </a:r>
            <a:r>
              <a:rPr lang="ru-RU" sz="2000" b="0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0" i="0" dirty="0">
                <a:solidFill>
                  <a:srgbClr val="103B7B"/>
                </a:solidFill>
                <a:latin typeface="Aptos"/>
              </a:rPr>
              <a:t>y²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55264" y="3541791"/>
            <a:ext cx="1097280" cy="521207"/>
          </a:xfrm>
          <a:prstGeom prst="rect">
            <a:avLst/>
          </a:prstGeom>
          <a:solidFill>
            <a:srgbClr val="F6F8FC"/>
          </a:solidFill>
          <a:ln w="12700">
            <a:solidFill>
              <a:srgbClr val="E3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800"/>
          </a:p>
        </p:txBody>
      </p:sp>
      <p:sp>
        <p:nvSpPr>
          <p:cNvPr id="43" name="TextBox 42"/>
          <p:cNvSpPr txBox="1"/>
          <p:nvPr/>
        </p:nvSpPr>
        <p:spPr>
          <a:xfrm>
            <a:off x="3346704" y="3674149"/>
            <a:ext cx="914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D2939"/>
                </a:solidFill>
                <a:latin typeface="Aptos"/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52544" y="3541791"/>
            <a:ext cx="2011680" cy="521207"/>
          </a:xfrm>
          <a:prstGeom prst="rect">
            <a:avLst/>
          </a:prstGeom>
          <a:solidFill>
            <a:srgbClr val="F6F8FC"/>
          </a:solidFill>
          <a:ln w="12700">
            <a:solidFill>
              <a:srgbClr val="E3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800"/>
          </a:p>
        </p:txBody>
      </p:sp>
      <p:sp>
        <p:nvSpPr>
          <p:cNvPr id="45" name="TextBox 44"/>
          <p:cNvSpPr txBox="1"/>
          <p:nvPr/>
        </p:nvSpPr>
        <p:spPr>
          <a:xfrm>
            <a:off x="4443983" y="3674149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D2939"/>
                </a:solidFill>
                <a:latin typeface="Aptos"/>
              </a:rPr>
              <a:t>diag(0,2)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64224" y="3541791"/>
            <a:ext cx="5175504" cy="521207"/>
          </a:xfrm>
          <a:prstGeom prst="rect">
            <a:avLst/>
          </a:prstGeom>
          <a:solidFill>
            <a:srgbClr val="F6F8FC"/>
          </a:solidFill>
          <a:ln w="12700">
            <a:solidFill>
              <a:srgbClr val="E3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800"/>
          </a:p>
        </p:txBody>
      </p:sp>
      <p:sp>
        <p:nvSpPr>
          <p:cNvPr id="47" name="TextBox 46"/>
          <p:cNvSpPr txBox="1"/>
          <p:nvPr/>
        </p:nvSpPr>
        <p:spPr>
          <a:xfrm>
            <a:off x="6455664" y="3674149"/>
            <a:ext cx="499262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03B7B"/>
                </a:solidFill>
                <a:latin typeface="Aptos"/>
              </a:rPr>
              <a:t>saddle; test inconclusive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2064" y="4242816"/>
            <a:ext cx="11027664" cy="1250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76656" y="4370831"/>
            <a:ext cx="106984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0EA5D9"/>
                </a:solidFill>
                <a:latin typeface="Aptos"/>
              </a:rPr>
              <a:t>IMPORTANT DIRECTION FOR f₄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" y="4744346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03B7B"/>
                </a:solidFill>
                <a:latin typeface="Aptos"/>
              </a:rPr>
              <a:t>Set y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=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0, then f₄(x,0)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=</a:t>
            </a:r>
            <a:r>
              <a:rPr lang="ru-RU" sz="20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2000" b="1" i="0" dirty="0">
                <a:solidFill>
                  <a:srgbClr val="103B7B"/>
                </a:solidFill>
                <a:latin typeface="Aptos"/>
              </a:rPr>
              <a:t>x³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272" y="5161538"/>
            <a:ext cx="10698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667085"/>
                </a:solidFill>
                <a:latin typeface="Aptos"/>
              </a:rPr>
              <a:t>This takes both positive and negative values near 0, so the origin is a saddle point.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2064" y="5621448"/>
            <a:ext cx="11027664" cy="703490"/>
          </a:xfrm>
          <a:prstGeom prst="roundRect">
            <a:avLst/>
          </a:prstGeom>
          <a:solidFill>
            <a:srgbClr val="EEF7FB"/>
          </a:solidFill>
          <a:ln w="12700">
            <a:solidFill>
              <a:srgbClr val="EE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6656" y="5749464"/>
            <a:ext cx="1143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0EA5D9"/>
                </a:solidFill>
                <a:latin typeface="Aptos"/>
              </a:rPr>
              <a:t>TAKEAWAY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84248" y="5772025"/>
            <a:ext cx="9189720" cy="4023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103B7B"/>
                </a:solidFill>
                <a:latin typeface="Aptos"/>
              </a:rPr>
              <a:t>A semidefinite Hessian may leave flat directions unresolved; then use the definition or inspect special directions.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630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" b="1" i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463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 i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103B7B"/>
                </a:solidFill>
                <a:latin typeface="Aptos"/>
              </a:rPr>
              <a:t>Central differences independently estimate gradients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18872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667085"/>
                </a:solidFill>
                <a:latin typeface="Aptos"/>
              </a:rPr>
              <a:t>The checker must be independent from the analytic gradient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30" b="0" i="0">
                <a:solidFill>
                  <a:srgbClr val="6B7A90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664208"/>
            <a:ext cx="11027664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91399"/>
            <a:ext cx="10698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0EA5D9"/>
                </a:solidFill>
                <a:latin typeface="Aptos"/>
              </a:rPr>
              <a:t>NUMERICAL IDEA</a:t>
            </a:r>
          </a:p>
        </p:txBody>
      </p:sp>
      <p:pic>
        <p:nvPicPr>
          <p:cNvPr id="10" name="Picture 9" descr="fd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863" y="1780550"/>
            <a:ext cx="2506900" cy="53480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12064" y="2670048"/>
            <a:ext cx="6446520" cy="2834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2064" y="2670048"/>
            <a:ext cx="54864" cy="2834640"/>
          </a:xfrm>
          <a:prstGeom prst="rect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2807208"/>
            <a:ext cx="5283825" cy="26161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def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finite_difference_grad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(f, x, h=1e-5):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    x =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np.asarray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(x,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dtype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=float)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    g =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np.empty_like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(x)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    for j in range(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x.size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        step =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np.zeros_like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(x); step[j] = 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        g[j] = (f(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x+step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)-f(x-step))/(2*h)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    return 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000" dirty="0">
              <a:solidFill>
                <a:srgbClr val="2A3957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def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relative_error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(g,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g_ref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    return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np.linalg.norm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(g-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g_ref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) / </a:t>
            </a:r>
            <a:endParaRPr lang="ru-RU" sz="1600" dirty="0">
              <a:solidFill>
                <a:srgbClr val="2A3957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(1 +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np.linalg.norm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(g) +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np.linalg.norm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g_ref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42048" y="2670048"/>
            <a:ext cx="42976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2807208"/>
            <a:ext cx="39684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TEST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980944"/>
            <a:ext cx="39684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03B7B"/>
                </a:solidFill>
                <a:latin typeface="Aptos"/>
              </a:rPr>
              <a:t>Use random non-special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355848"/>
            <a:ext cx="39684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667085"/>
                </a:solidFill>
                <a:latin typeface="Aptos"/>
              </a:rPr>
              <a:t>A gradient that passes at x=0 may still fail elsewhere.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42048" y="4023360"/>
            <a:ext cx="42976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06640" y="4160520"/>
            <a:ext cx="39684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74B9B"/>
                </a:solidFill>
                <a:latin typeface="Aptos"/>
              </a:rPr>
              <a:t>ERROR METRIC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7496" y="4354654"/>
            <a:ext cx="39684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03B7B"/>
                </a:solidFill>
                <a:latin typeface="Aptos"/>
              </a:rPr>
              <a:t>Use a relative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674694"/>
            <a:ext cx="39684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667085"/>
                </a:solidFill>
                <a:latin typeface="Aptos"/>
              </a:rPr>
              <a:t>The denominator prevents tiny vectors from misleading the comparison.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42048" y="5340096"/>
            <a:ext cx="4297680" cy="694944"/>
          </a:xfrm>
          <a:prstGeom prst="roundRect">
            <a:avLst/>
          </a:prstGeom>
          <a:solidFill>
            <a:srgbClr val="EEF7FB"/>
          </a:solidFill>
          <a:ln w="12700">
            <a:solidFill>
              <a:srgbClr val="EE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40" y="5495544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GOOD PRACTICE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9224" y="5422392"/>
            <a:ext cx="307238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103B7B"/>
                </a:solidFill>
                <a:latin typeface="Aptos"/>
              </a:rPr>
              <a:t>Check several points and several h values, not just 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630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" b="1" i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463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 i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103B7B"/>
                </a:solidFill>
                <a:latin typeface="Aptos"/>
              </a:rPr>
              <a:t>The step-size experiment reveals two sources of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18872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667085"/>
                </a:solidFill>
                <a:latin typeface="Aptos"/>
              </a:rPr>
              <a:t>The best h balances truncation error against floating-point roundoff.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30" b="0" i="0">
                <a:solidFill>
                  <a:srgbClr val="6B7A90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664207"/>
            <a:ext cx="6629400" cy="41540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33488" y="1719072"/>
            <a:ext cx="42062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79" y="1847088"/>
            <a:ext cx="38770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994A"/>
                </a:solidFill>
                <a:latin typeface="Aptos"/>
              </a:rPr>
              <a:t>LARGE h → truncation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103120"/>
            <a:ext cx="38770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03B7B"/>
                </a:solidFill>
                <a:latin typeface="Aptos"/>
              </a:rPr>
              <a:t>Finite differences are only local approximations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404872"/>
            <a:ext cx="38770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667085"/>
                </a:solidFill>
                <a:latin typeface="Aptos"/>
              </a:rPr>
              <a:t>If h is too large, the slope estimate is biased.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33488" y="2889504"/>
            <a:ext cx="4206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79" y="3017520"/>
            <a:ext cx="38770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E9B6F"/>
                </a:solidFill>
                <a:latin typeface="Aptos"/>
              </a:rPr>
              <a:t>SMALL h → roundoff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273552"/>
            <a:ext cx="389534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dirty="0">
                <a:solidFill>
                  <a:srgbClr val="103B7B"/>
                </a:solidFill>
                <a:latin typeface="Aptos"/>
              </a:rPr>
              <a:t>Subtraction of nearly equal numbers amplifies noise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7223" y="3716482"/>
            <a:ext cx="38770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667085"/>
                </a:solidFill>
                <a:latin typeface="Aptos"/>
              </a:rPr>
              <a:t>If h is too small, floating-point error dominates.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33488" y="4123944"/>
            <a:ext cx="4206240" cy="923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07223" y="4283410"/>
            <a:ext cx="38770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0EA5D9"/>
                </a:solidFill>
                <a:latin typeface="Aptos"/>
              </a:rPr>
              <a:t>BEST REGION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517136"/>
            <a:ext cx="38770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dirty="0">
                <a:solidFill>
                  <a:srgbClr val="103B7B"/>
                </a:solidFill>
                <a:latin typeface="Aptos"/>
              </a:rPr>
              <a:t>Choose h near the bottom of the U-shaped curve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937" y="4780436"/>
            <a:ext cx="38770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667085"/>
                </a:solidFill>
                <a:latin typeface="Aptos"/>
              </a:rPr>
              <a:t>The optimal h is problem- and scale-dependent.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33488" y="5184648"/>
            <a:ext cx="4206240" cy="1051560"/>
          </a:xfrm>
          <a:prstGeom prst="roundRect">
            <a:avLst/>
          </a:prstGeom>
          <a:solidFill>
            <a:srgbClr val="EEF7FB"/>
          </a:solidFill>
          <a:ln w="12700">
            <a:solidFill>
              <a:srgbClr val="EE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79" y="5541264"/>
            <a:ext cx="121216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0EA5D9"/>
                </a:solidFill>
                <a:latin typeface="Aptos"/>
              </a:rPr>
              <a:t>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2270" y="5336525"/>
            <a:ext cx="2491153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103B7B"/>
                </a:solidFill>
                <a:latin typeface="Aptos"/>
              </a:rPr>
              <a:t>Why is the smallest available h not the best choice?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7BAE151-90E2-AC81-CF59-F9CF4D521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931972"/>
            <a:ext cx="5427785" cy="36185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630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" b="1" i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463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 i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03B7B"/>
                </a:solidFill>
                <a:latin typeface="Aptos"/>
              </a:rPr>
              <a:t>Linear regression — derive before you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18872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67085"/>
                </a:solidFill>
                <a:latin typeface="Aptos"/>
              </a:rPr>
              <a:t>Make the objective, gradient and Hessian explicit before implementing MSE.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30" b="0" i="0">
                <a:solidFill>
                  <a:srgbClr val="6B7A90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645920"/>
            <a:ext cx="1102766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1773936"/>
            <a:ext cx="10698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0EA5D9"/>
                </a:solidFill>
                <a:latin typeface="Aptos"/>
              </a:rPr>
              <a:t>OBJECTIVE</a:t>
            </a:r>
          </a:p>
        </p:txBody>
      </p:sp>
      <p:pic>
        <p:nvPicPr>
          <p:cNvPr id="10" name="Picture 9" descr="mse_ob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466" y="1793514"/>
            <a:ext cx="2741676" cy="60350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512064" y="4087368"/>
            <a:ext cx="5431536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58368" y="4270248"/>
            <a:ext cx="237744" cy="237744"/>
          </a:xfrm>
          <a:prstGeom prst="ellipse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427024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4270833"/>
            <a:ext cx="473659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03B7B"/>
                </a:solidFill>
                <a:latin typeface="Aptos"/>
              </a:rPr>
              <a:t>Derive ∇F(w) and H_F(w).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08192" y="4087368"/>
            <a:ext cx="5431536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254496" y="4270248"/>
            <a:ext cx="237744" cy="237744"/>
          </a:xfrm>
          <a:prstGeom prst="ellipse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54496" y="427024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0256" y="4178808"/>
            <a:ext cx="491032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03B7B"/>
                </a:solidFill>
                <a:latin typeface="Aptos"/>
              </a:rPr>
              <a:t>Identify the dimensions of every intermediate vector.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064" y="4782312"/>
            <a:ext cx="5431536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58368" y="4965192"/>
            <a:ext cx="237744" cy="237744"/>
          </a:xfrm>
          <a:prstGeom prst="ellipse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" y="496519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" y="4951476"/>
            <a:ext cx="473659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03B7B"/>
                </a:solidFill>
                <a:latin typeface="Aptos"/>
              </a:rPr>
              <a:t>State a condition for a unique minimizer.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08192" y="4782312"/>
            <a:ext cx="5431536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254496" y="4965192"/>
            <a:ext cx="237744" cy="237744"/>
          </a:xfrm>
          <a:prstGeom prst="ellipse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54496" y="496519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0256" y="4965192"/>
            <a:ext cx="473659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03B7B"/>
                </a:solidFill>
                <a:latin typeface="Aptos"/>
              </a:rPr>
              <a:t>Derive the ridge-regularized gradient.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2064" y="5513832"/>
            <a:ext cx="1102766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6656" y="5754808"/>
            <a:ext cx="10698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0EA5D9"/>
                </a:solidFill>
                <a:latin typeface="Aptos"/>
              </a:rPr>
              <a:t>EXPECTED RESULT</a:t>
            </a:r>
          </a:p>
        </p:txBody>
      </p:sp>
      <p:pic>
        <p:nvPicPr>
          <p:cNvPr id="48" name="Picture 47" descr="mse_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989" y="5648228"/>
            <a:ext cx="5528533" cy="483008"/>
          </a:xfrm>
          <a:prstGeom prst="rect">
            <a:avLst/>
          </a:prstGeom>
        </p:spPr>
      </p:pic>
      <p:cxnSp>
        <p:nvCxnSpPr>
          <p:cNvPr id="54" name="Connector 28">
            <a:extLst>
              <a:ext uri="{FF2B5EF4-FFF2-40B4-BE49-F238E27FC236}">
                <a16:creationId xmlns:a16="http://schemas.microsoft.com/office/drawing/2014/main" id="{051FEF5F-2E30-F75F-AFCB-0DB259692D2E}"/>
              </a:ext>
            </a:extLst>
          </p:cNvPr>
          <p:cNvCxnSpPr/>
          <p:nvPr/>
        </p:nvCxnSpPr>
        <p:spPr>
          <a:xfrm>
            <a:off x="5102351" y="3291840"/>
            <a:ext cx="329185" cy="0"/>
          </a:xfrm>
          <a:prstGeom prst="line">
            <a:avLst/>
          </a:prstGeom>
          <a:ln w="15240">
            <a:solidFill>
              <a:srgbClr val="A7B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512064" y="2706624"/>
            <a:ext cx="14173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1792" y="2852928"/>
            <a:ext cx="1197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03B7B"/>
                </a:solidFill>
                <a:latin typeface="Aptos"/>
              </a:rPr>
              <a:t>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" y="3273552"/>
            <a:ext cx="11978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67085"/>
                </a:solidFill>
                <a:latin typeface="Aptos"/>
              </a:rPr>
              <a:t>parameters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58568" y="2706624"/>
            <a:ext cx="1508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368296" y="2852928"/>
            <a:ext cx="12893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03B7B"/>
                </a:solidFill>
                <a:latin typeface="Aptos"/>
              </a:rPr>
              <a:t>Xw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68296" y="3273552"/>
            <a:ext cx="1289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67085"/>
                </a:solidFill>
                <a:latin typeface="Aptos"/>
              </a:rPr>
              <a:t>prediction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096512" y="2706624"/>
            <a:ext cx="1901952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06240" y="2852928"/>
            <a:ext cx="16824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03B7B"/>
                </a:solidFill>
                <a:latin typeface="Aptos"/>
              </a:rPr>
              <a:t>r = Xw − 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06240" y="3273552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67085"/>
                </a:solidFill>
                <a:latin typeface="Aptos"/>
              </a:rPr>
              <a:t>residual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27648" y="2706624"/>
            <a:ext cx="23317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37376" y="2852928"/>
            <a:ext cx="21122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03B7B"/>
                </a:solidFill>
                <a:latin typeface="Aptos"/>
              </a:rPr>
              <a:t>F(w) = ½n⁻¹ ‖r‖²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37376" y="3273552"/>
            <a:ext cx="21122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67085"/>
                </a:solidFill>
                <a:latin typeface="Aptos"/>
              </a:rPr>
              <a:t>scalar loss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988552" y="2706624"/>
            <a:ext cx="2551176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098280" y="2852928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03B7B"/>
                </a:solidFill>
                <a:latin typeface="Aptos"/>
              </a:rPr>
              <a:t>∇F(w),  H_F(w)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98280" y="3273552"/>
            <a:ext cx="2331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67085"/>
                </a:solidFill>
                <a:latin typeface="Aptos"/>
              </a:rPr>
              <a:t>derivatives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47672" y="2980944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9AA8BC"/>
                </a:solidFill>
                <a:latin typeface="Aptos"/>
              </a:rPr>
              <a:t>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85615" y="2980944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9AA8BC"/>
                </a:solidFill>
                <a:latin typeface="Aptos"/>
              </a:rPr>
              <a:t>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16752" y="2980944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9AA8BC"/>
                </a:solidFill>
                <a:latin typeface="Aptos"/>
              </a:rPr>
              <a:t>→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77656" y="2980944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9AA8BC"/>
                </a:solidFill>
                <a:latin typeface="Aptos"/>
              </a:rPr>
              <a:t>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630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" b="1" i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463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 i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03B7B"/>
                </a:solidFill>
                <a:latin typeface="Aptos"/>
              </a:rPr>
              <a:t>Keep the loss and gradient consistent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18872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67085"/>
                </a:solidFill>
                <a:latin typeface="Aptos"/>
              </a:rPr>
              <a:t>The loss definition determines the scaling of the gradient and the Hessian.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30" b="0" i="0">
                <a:solidFill>
                  <a:srgbClr val="6B7A90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682494"/>
            <a:ext cx="4381380" cy="45902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" y="1682495"/>
            <a:ext cx="45719" cy="4590287"/>
          </a:xfrm>
          <a:prstGeom prst="rect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1" y="2187486"/>
            <a:ext cx="3223845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def </a:t>
            </a:r>
            <a:r>
              <a:rPr sz="1200" dirty="0" err="1">
                <a:solidFill>
                  <a:srgbClr val="2A3957"/>
                </a:solidFill>
                <a:latin typeface="Consolas"/>
              </a:rPr>
              <a:t>mse_loss</a:t>
            </a:r>
            <a:r>
              <a:rPr sz="1200" dirty="0">
                <a:solidFill>
                  <a:srgbClr val="2A3957"/>
                </a:solidFill>
                <a:latin typeface="Consolas"/>
              </a:rPr>
              <a:t>(w, X, y, l2=0.0):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    residual = X @ w - 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    return 0.5*</a:t>
            </a:r>
            <a:r>
              <a:rPr sz="1200" dirty="0" err="1">
                <a:solidFill>
                  <a:srgbClr val="2A3957"/>
                </a:solidFill>
                <a:latin typeface="Consolas"/>
              </a:rPr>
              <a:t>np.mean</a:t>
            </a:r>
            <a:r>
              <a:rPr sz="1200" dirty="0">
                <a:solidFill>
                  <a:srgbClr val="2A3957"/>
                </a:solidFill>
                <a:latin typeface="Consolas"/>
              </a:rPr>
              <a:t>(residual**2) +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           0.5*l2*(w @ 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1" y="3434642"/>
            <a:ext cx="3156344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def </a:t>
            </a:r>
            <a:r>
              <a:rPr sz="1200" dirty="0" err="1">
                <a:solidFill>
                  <a:srgbClr val="2A3957"/>
                </a:solidFill>
                <a:latin typeface="Consolas"/>
              </a:rPr>
              <a:t>mse_grad</a:t>
            </a:r>
            <a:r>
              <a:rPr sz="1200" dirty="0">
                <a:solidFill>
                  <a:srgbClr val="2A3957"/>
                </a:solidFill>
                <a:latin typeface="Consolas"/>
              </a:rPr>
              <a:t>(w, X, y, l2=0.0):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    n = </a:t>
            </a:r>
            <a:r>
              <a:rPr sz="1200" dirty="0" err="1">
                <a:solidFill>
                  <a:srgbClr val="2A3957"/>
                </a:solidFill>
                <a:latin typeface="Consolas"/>
              </a:rPr>
              <a:t>X.shape</a:t>
            </a:r>
            <a:r>
              <a:rPr sz="1200" dirty="0">
                <a:solidFill>
                  <a:srgbClr val="2A3957"/>
                </a:solidFill>
                <a:latin typeface="Consolas"/>
              </a:rPr>
              <a:t>[0]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    residual = X @ w - 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    return X.T @ residual / n + l2*w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456" y="4681798"/>
            <a:ext cx="4167085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def </a:t>
            </a:r>
            <a:r>
              <a:rPr sz="1200" dirty="0" err="1">
                <a:solidFill>
                  <a:srgbClr val="2A3957"/>
                </a:solidFill>
                <a:latin typeface="Consolas"/>
              </a:rPr>
              <a:t>mse_hessian</a:t>
            </a:r>
            <a:r>
              <a:rPr sz="1200" dirty="0">
                <a:solidFill>
                  <a:srgbClr val="2A3957"/>
                </a:solidFill>
                <a:latin typeface="Consolas"/>
              </a:rPr>
              <a:t>(X, l2=0.0):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    n, d = </a:t>
            </a:r>
            <a:r>
              <a:rPr sz="1200" dirty="0" err="1">
                <a:solidFill>
                  <a:srgbClr val="2A3957"/>
                </a:solidFill>
                <a:latin typeface="Consolas"/>
              </a:rPr>
              <a:t>X.shape</a:t>
            </a:r>
            <a:endParaRPr sz="1200" dirty="0">
              <a:solidFill>
                <a:srgbClr val="2A3957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    return X.T @ X / n +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           l2*</a:t>
            </a:r>
            <a:r>
              <a:rPr sz="1200" dirty="0" err="1">
                <a:solidFill>
                  <a:srgbClr val="2A3957"/>
                </a:solidFill>
                <a:latin typeface="Consolas"/>
              </a:rPr>
              <a:t>np.eye</a:t>
            </a:r>
            <a:r>
              <a:rPr sz="1200" dirty="0">
                <a:solidFill>
                  <a:srgbClr val="2A3957"/>
                </a:solidFill>
                <a:latin typeface="Consolas"/>
              </a:rPr>
              <a:t>(d)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40215" y="2295144"/>
            <a:ext cx="4937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04807" y="2441448"/>
            <a:ext cx="4608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IF LOSS USES A SUM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4807" y="2688336"/>
            <a:ext cx="4608576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03B7B"/>
                </a:solidFill>
                <a:latin typeface="Aptos"/>
              </a:rPr>
              <a:t>Drop the division by n in the gradient and Hessian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807" y="3092079"/>
            <a:ext cx="460857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667085"/>
                </a:solidFill>
                <a:latin typeface="Aptos"/>
              </a:rPr>
              <a:t>The scaling must match the objective exactly.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40214" y="3915343"/>
            <a:ext cx="5907024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04806" y="4061647"/>
            <a:ext cx="5577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74B9B"/>
                </a:solidFill>
                <a:latin typeface="Aptos"/>
              </a:rPr>
              <a:t>RIDGE REGULARIZATION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4806" y="4308535"/>
            <a:ext cx="557784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03B7B"/>
                </a:solidFill>
                <a:latin typeface="Aptos"/>
              </a:rPr>
              <a:t>If the penalty is (λ/2)||w||², then the gradient adds λw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4806" y="4710871"/>
            <a:ext cx="5577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667085"/>
                </a:solidFill>
                <a:latin typeface="Aptos"/>
              </a:rPr>
              <a:t>Use the same </a:t>
            </a:r>
            <a:r>
              <a:rPr sz="1200" b="0" i="0" dirty="0" err="1">
                <a:solidFill>
                  <a:srgbClr val="667085"/>
                </a:solidFill>
                <a:latin typeface="Aptos"/>
              </a:rPr>
              <a:t>λ</a:t>
            </a:r>
            <a:r>
              <a:rPr sz="1200" b="0" i="0" dirty="0">
                <a:solidFill>
                  <a:srgbClr val="667085"/>
                </a:solidFill>
                <a:latin typeface="Aptos"/>
              </a:rPr>
              <a:t> convention everywhere.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630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" b="1" i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463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 i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03B7B"/>
                </a:solidFill>
                <a:latin typeface="Aptos"/>
              </a:rPr>
              <a:t>Coding task — build a reproducible synthetic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18872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67085"/>
                </a:solidFill>
                <a:latin typeface="Aptos"/>
              </a:rPr>
              <a:t>Use a fixed seed and explicit dimensions so everyone debugs the same example.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30" b="0" i="0">
                <a:solidFill>
                  <a:srgbClr val="6B7A90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664208"/>
            <a:ext cx="4800600" cy="22677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" y="1664208"/>
            <a:ext cx="54864" cy="2267712"/>
          </a:xfrm>
          <a:prstGeom prst="rect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1697" y="2008349"/>
            <a:ext cx="4376198" cy="1508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 err="1">
                <a:solidFill>
                  <a:srgbClr val="2A3957"/>
                </a:solidFill>
                <a:latin typeface="Consolas"/>
              </a:rPr>
              <a:t>rng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 =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np.random.default_rng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(42)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n, d = 200, 8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X =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rng.normal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(size=(n, d))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 err="1">
                <a:solidFill>
                  <a:srgbClr val="2A3957"/>
                </a:solidFill>
                <a:latin typeface="Consolas"/>
              </a:rPr>
              <a:t>w_true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 =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rng.normal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(size=d)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y = X @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w_true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 + 0.2*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rng.normal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(size=n)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w0 =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rng.normal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(size=d)</a:t>
            </a:r>
          </a:p>
        </p:txBody>
      </p:sp>
      <p:sp>
        <p:nvSpPr>
          <p:cNvPr id="11" name="Oval 10"/>
          <p:cNvSpPr/>
          <p:nvPr/>
        </p:nvSpPr>
        <p:spPr>
          <a:xfrm>
            <a:off x="5650992" y="1737360"/>
            <a:ext cx="237744" cy="237744"/>
          </a:xfrm>
          <a:prstGeom prst="ellipse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50992" y="173736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1682495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03B7B"/>
                </a:solidFill>
                <a:latin typeface="Aptos"/>
              </a:rPr>
              <a:t>Check mse_grad at five random parameter vectors.</a:t>
            </a:r>
          </a:p>
        </p:txBody>
      </p:sp>
      <p:sp>
        <p:nvSpPr>
          <p:cNvPr id="14" name="Oval 13"/>
          <p:cNvSpPr/>
          <p:nvPr/>
        </p:nvSpPr>
        <p:spPr>
          <a:xfrm>
            <a:off x="5650992" y="2459736"/>
            <a:ext cx="237744" cy="237744"/>
          </a:xfrm>
          <a:prstGeom prst="ellipse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50992" y="245973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2404872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03B7B"/>
                </a:solidFill>
                <a:latin typeface="Aptos"/>
              </a:rPr>
              <a:t>Report the maximum relative error.</a:t>
            </a:r>
          </a:p>
        </p:txBody>
      </p:sp>
      <p:sp>
        <p:nvSpPr>
          <p:cNvPr id="17" name="Oval 16"/>
          <p:cNvSpPr/>
          <p:nvPr/>
        </p:nvSpPr>
        <p:spPr>
          <a:xfrm>
            <a:off x="5650992" y="3182112"/>
            <a:ext cx="237744" cy="237744"/>
          </a:xfrm>
          <a:prstGeom prst="ellipse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50992" y="31821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3127248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03B7B"/>
                </a:solidFill>
                <a:latin typeface="Aptos"/>
              </a:rPr>
              <a:t>Solve the normal equations with np.linalg.solve.</a:t>
            </a:r>
          </a:p>
        </p:txBody>
      </p:sp>
      <p:sp>
        <p:nvSpPr>
          <p:cNvPr id="20" name="Oval 19"/>
          <p:cNvSpPr/>
          <p:nvPr/>
        </p:nvSpPr>
        <p:spPr>
          <a:xfrm>
            <a:off x="5650992" y="3904487"/>
            <a:ext cx="237744" cy="237744"/>
          </a:xfrm>
          <a:prstGeom prst="ellipse">
            <a:avLst/>
          </a:prstGeom>
          <a:solidFill>
            <a:srgbClr val="37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50992" y="3904487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6752" y="3849624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03B7B"/>
                </a:solidFill>
                <a:latin typeface="Aptos"/>
              </a:rPr>
              <a:t>Compare w* with w_true.</a:t>
            </a:r>
          </a:p>
        </p:txBody>
      </p:sp>
      <p:sp>
        <p:nvSpPr>
          <p:cNvPr id="23" name="Oval 22"/>
          <p:cNvSpPr/>
          <p:nvPr/>
        </p:nvSpPr>
        <p:spPr>
          <a:xfrm>
            <a:off x="5650992" y="4626864"/>
            <a:ext cx="237744" cy="237744"/>
          </a:xfrm>
          <a:prstGeom prst="ellipse">
            <a:avLst/>
          </a:prstGeom>
          <a:solidFill>
            <a:srgbClr val="37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50992" y="462686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6752" y="457200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03B7B"/>
                </a:solidFill>
                <a:latin typeface="Aptos"/>
              </a:rPr>
              <a:t>Inspect the smallest and largest Hessian eigenvalues.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" y="5248656"/>
            <a:ext cx="11027664" cy="843358"/>
          </a:xfrm>
          <a:prstGeom prst="roundRect">
            <a:avLst/>
          </a:prstGeom>
          <a:solidFill>
            <a:srgbClr val="EEF7FB"/>
          </a:solidFill>
          <a:ln w="12700">
            <a:solidFill>
              <a:srgbClr val="EE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7204" y="5392281"/>
            <a:ext cx="15087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0EA5D9"/>
                </a:solidFill>
                <a:latin typeface="Aptos"/>
              </a:rPr>
              <a:t>WHY THIS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0457" y="5468398"/>
            <a:ext cx="8823960" cy="4023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103B7B"/>
                </a:solidFill>
                <a:latin typeface="Aptos"/>
              </a:rPr>
              <a:t>A reproducible synthetic problem turns debugging from guesswork into an experiment.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630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" b="1" i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463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 i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03B7B"/>
                </a:solidFill>
                <a:latin typeface="Aptos"/>
              </a:rPr>
              <a:t>Solve normal equations without an inverse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18872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67085"/>
                </a:solidFill>
                <a:latin typeface="Aptos"/>
              </a:rPr>
              <a:t>Avoid explicit inversion; use linear solves or least-squares factorization.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30" b="0" i="0">
                <a:solidFill>
                  <a:srgbClr val="6B7A90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664207"/>
            <a:ext cx="11027664" cy="1041005"/>
          </a:xfrm>
          <a:prstGeom prst="roundRect">
            <a:avLst/>
          </a:prstGeom>
          <a:solidFill>
            <a:srgbClr val="FFF8F7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1792224"/>
            <a:ext cx="10698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9534F"/>
                </a:solidFill>
                <a:latin typeface="Aptos"/>
              </a:rPr>
              <a:t>AVOID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048256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03B7B"/>
                </a:solidFill>
                <a:latin typeface="Consolas"/>
              </a:rPr>
              <a:t>w_star</a:t>
            </a:r>
            <a:r>
              <a:rPr sz="1400" b="1" i="0" dirty="0">
                <a:solidFill>
                  <a:srgbClr val="103B7B"/>
                </a:solidFill>
                <a:latin typeface="Consolas"/>
              </a:rPr>
              <a:t> = </a:t>
            </a:r>
            <a:r>
              <a:rPr sz="1400" b="1" i="0" dirty="0" err="1">
                <a:solidFill>
                  <a:srgbClr val="103B7B"/>
                </a:solidFill>
                <a:latin typeface="Consolas"/>
              </a:rPr>
              <a:t>np.linalg.inv</a:t>
            </a:r>
            <a:r>
              <a:rPr sz="1400" b="1" i="0" dirty="0">
                <a:solidFill>
                  <a:srgbClr val="103B7B"/>
                </a:solidFill>
                <a:latin typeface="Consolas"/>
              </a:rPr>
              <a:t>(X.T @ X) @ X.T @ 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404872"/>
            <a:ext cx="10698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667085"/>
                </a:solidFill>
                <a:latin typeface="Aptos"/>
              </a:rPr>
              <a:t>Explicit inversion is less stable and usually unnecessary.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2911542"/>
            <a:ext cx="11027664" cy="11465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3039559"/>
            <a:ext cx="10698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PREFER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295591"/>
            <a:ext cx="106984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 dirty="0">
                <a:solidFill>
                  <a:srgbClr val="103B7B"/>
                </a:solidFill>
                <a:latin typeface="Consolas"/>
              </a:rPr>
              <a:t>A = X.T @ X ·</a:t>
            </a:r>
            <a:r>
              <a:rPr lang="ru-RU" sz="1400" b="1" i="0" dirty="0">
                <a:solidFill>
                  <a:srgbClr val="103B7B"/>
                </a:solidFill>
                <a:latin typeface="Consolas"/>
              </a:rPr>
              <a:t> </a:t>
            </a:r>
            <a:r>
              <a:rPr sz="1400" b="1" i="0" dirty="0">
                <a:solidFill>
                  <a:srgbClr val="103B7B"/>
                </a:solidFill>
                <a:latin typeface="Consolas"/>
              </a:rPr>
              <a:t>b = X.T @ y · </a:t>
            </a:r>
            <a:r>
              <a:rPr sz="1400" b="1" i="0" dirty="0" err="1">
                <a:solidFill>
                  <a:srgbClr val="103B7B"/>
                </a:solidFill>
                <a:latin typeface="Consolas"/>
              </a:rPr>
              <a:t>w_star</a:t>
            </a:r>
            <a:r>
              <a:rPr sz="1400" b="1" i="0" dirty="0">
                <a:solidFill>
                  <a:srgbClr val="103B7B"/>
                </a:solidFill>
                <a:latin typeface="Consolas"/>
              </a:rPr>
              <a:t> = </a:t>
            </a:r>
            <a:r>
              <a:rPr sz="1400" b="1" i="0" dirty="0" err="1">
                <a:solidFill>
                  <a:srgbClr val="103B7B"/>
                </a:solidFill>
                <a:latin typeface="Consolas"/>
              </a:rPr>
              <a:t>np.linalg.solve</a:t>
            </a:r>
            <a:r>
              <a:rPr sz="1400" b="1" i="0" dirty="0">
                <a:solidFill>
                  <a:srgbClr val="103B7B"/>
                </a:solidFill>
                <a:latin typeface="Consolas"/>
              </a:rPr>
              <a:t>(A, 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652207"/>
            <a:ext cx="10698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67085"/>
                </a:solidFill>
                <a:latin typeface="Aptos"/>
              </a:rPr>
              <a:t>This solves the system directly.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4205770"/>
            <a:ext cx="11027664" cy="11244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" y="4333785"/>
            <a:ext cx="10698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74B9B"/>
                </a:solidFill>
                <a:latin typeface="Aptos"/>
              </a:rPr>
              <a:t>OR FACTORIZE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4589818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03B7B"/>
                </a:solidFill>
                <a:latin typeface="Consolas"/>
              </a:rPr>
              <a:t>w_star, *_ = np.linalg.lstsq(X, y, rcond=None)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4946434"/>
            <a:ext cx="10698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667085"/>
                </a:solidFill>
                <a:latin typeface="Aptos"/>
              </a:rPr>
              <a:t>This remains meaningful when XᵀX is singular or nearly singular.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" y="5536572"/>
            <a:ext cx="11027664" cy="718161"/>
          </a:xfrm>
          <a:prstGeom prst="roundRect">
            <a:avLst/>
          </a:prstGeom>
          <a:solidFill>
            <a:srgbClr val="EEF7FB"/>
          </a:solidFill>
          <a:ln w="12700">
            <a:solidFill>
              <a:srgbClr val="EE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5780155"/>
            <a:ext cx="1143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0EA5D9"/>
                </a:solidFill>
                <a:latin typeface="Aptos"/>
              </a:rPr>
              <a:t>GOOD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6272" y="5702099"/>
            <a:ext cx="9189720" cy="4023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103B7B"/>
                </a:solidFill>
                <a:latin typeface="Aptos"/>
              </a:rPr>
              <a:t>If you find yourself writing inv(A) @ b, stop and rethink the computation.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630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" b="1" i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463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 i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03B7B"/>
                </a:solidFill>
                <a:latin typeface="Aptos"/>
              </a:rPr>
              <a:t>Experiment — rank deficiency breaks uniqueness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18872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67085"/>
                </a:solidFill>
                <a:latin typeface="Aptos"/>
              </a:rPr>
              <a:t>Duplicate features leave the loss convex but destroy uniqueness of the minimizer.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30" b="0" i="0">
                <a:solidFill>
                  <a:srgbClr val="6B7A90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664208"/>
            <a:ext cx="11027664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" y="1664208"/>
            <a:ext cx="54864" cy="1005840"/>
          </a:xfrm>
          <a:prstGeom prst="rect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1790652"/>
            <a:ext cx="4151778" cy="7386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 err="1">
                <a:solidFill>
                  <a:srgbClr val="2A3957"/>
                </a:solidFill>
                <a:latin typeface="Consolas"/>
              </a:rPr>
              <a:t>X_bad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 =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np.column_stack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([X, X[:, 0]])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 err="1">
                <a:solidFill>
                  <a:srgbClr val="2A3957"/>
                </a:solidFill>
                <a:latin typeface="Consolas"/>
              </a:rPr>
              <a:t>H_bad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 =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X_bad.T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 @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X_bad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 / 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len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X_bad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dirty="0">
                <a:solidFill>
                  <a:srgbClr val="2A3957"/>
                </a:solidFill>
                <a:latin typeface="Consolas"/>
              </a:rPr>
              <a:t>print(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np.linalg.eigvalsh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2A3957"/>
                </a:solidFill>
                <a:latin typeface="Consolas"/>
              </a:rPr>
              <a:t>H_bad</a:t>
            </a:r>
            <a:r>
              <a:rPr sz="1600" dirty="0">
                <a:solidFill>
                  <a:srgbClr val="2A3957"/>
                </a:solidFill>
                <a:latin typeface="Consolas"/>
              </a:rPr>
              <a:t>))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" y="2889504"/>
            <a:ext cx="5431536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3017520"/>
            <a:ext cx="5102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CONVEXITY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273552"/>
            <a:ext cx="5102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03B7B"/>
                </a:solidFill>
                <a:latin typeface="Aptos"/>
              </a:rPr>
              <a:t>Yes, the loss is still convex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587027"/>
            <a:ext cx="5102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0" i="0" dirty="0" err="1">
                <a:solidFill>
                  <a:srgbClr val="667085"/>
                </a:solidFill>
                <a:latin typeface="Aptos"/>
              </a:rPr>
              <a:t>X_badᵀX_bad</a:t>
            </a:r>
            <a:r>
              <a:rPr sz="1180" b="0" i="0" dirty="0">
                <a:solidFill>
                  <a:srgbClr val="667085"/>
                </a:solidFill>
                <a:latin typeface="Aptos"/>
              </a:rPr>
              <a:t> remains positive semidefinite.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2889504"/>
            <a:ext cx="5431536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72783" y="3017520"/>
            <a:ext cx="5102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74B9B"/>
                </a:solidFill>
                <a:latin typeface="Aptos"/>
              </a:rPr>
              <a:t>UNIQUENESS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3" y="3273552"/>
            <a:ext cx="5102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03B7B"/>
                </a:solidFill>
                <a:latin typeface="Aptos"/>
              </a:rPr>
              <a:t>No, the minimizer is not unique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3" y="3584448"/>
            <a:ext cx="5102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0" i="0" dirty="0">
                <a:solidFill>
                  <a:srgbClr val="667085"/>
                </a:solidFill>
                <a:latin typeface="Aptos"/>
              </a:rPr>
              <a:t>There is a zero-curvature direction corresponding to the duplicated feature.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" y="4059936"/>
            <a:ext cx="5431536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" y="4197096"/>
            <a:ext cx="5102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PREDICTIONS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4443984"/>
            <a:ext cx="51023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03B7B"/>
                </a:solidFill>
                <a:latin typeface="Aptos"/>
              </a:rPr>
              <a:t>Different parameter vectors can make identical predictions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4773168"/>
            <a:ext cx="51023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0" i="0" dirty="0">
                <a:solidFill>
                  <a:srgbClr val="667085"/>
                </a:solidFill>
                <a:latin typeface="Aptos"/>
              </a:rPr>
              <a:t>Only the fitted outputs </a:t>
            </a:r>
            <a:r>
              <a:rPr sz="1180" b="0" i="0" dirty="0" err="1">
                <a:solidFill>
                  <a:srgbClr val="667085"/>
                </a:solidFill>
                <a:latin typeface="Aptos"/>
              </a:rPr>
              <a:t>X_bad</a:t>
            </a:r>
            <a:r>
              <a:rPr sz="1180" b="0" i="0" dirty="0">
                <a:solidFill>
                  <a:srgbClr val="667085"/>
                </a:solidFill>
                <a:latin typeface="Aptos"/>
              </a:rPr>
              <a:t> w matter.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08192" y="4059936"/>
            <a:ext cx="5431536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72783" y="4197096"/>
            <a:ext cx="5102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74B9B"/>
                </a:solidFill>
                <a:latin typeface="Aptos"/>
              </a:rPr>
              <a:t>RIDGE FIX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3" y="4443984"/>
            <a:ext cx="51023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03B7B"/>
                </a:solidFill>
                <a:latin typeface="Aptos"/>
              </a:rPr>
              <a:t>Adding λI makes the Hessian positive definite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3" y="4773168"/>
            <a:ext cx="51023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0" i="0" dirty="0">
                <a:solidFill>
                  <a:srgbClr val="667085"/>
                </a:solidFill>
                <a:latin typeface="Aptos"/>
              </a:rPr>
              <a:t>Then the ridge objective has a unique minimizer.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" y="5358384"/>
            <a:ext cx="11027664" cy="548640"/>
          </a:xfrm>
          <a:prstGeom prst="roundRect">
            <a:avLst/>
          </a:prstGeom>
          <a:solidFill>
            <a:srgbClr val="EEF7FB"/>
          </a:solidFill>
          <a:ln w="12700">
            <a:solidFill>
              <a:srgbClr val="EE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4944" y="5509593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0EA5D9"/>
                </a:solidFill>
                <a:latin typeface="Aptos"/>
              </a:rPr>
              <a:t>TAKEAWAY</a:t>
            </a:r>
            <a:endParaRPr sz="1100" b="1" i="0" dirty="0">
              <a:solidFill>
                <a:srgbClr val="0EA5D9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975104" y="5413248"/>
            <a:ext cx="9838944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103B7B"/>
                </a:solidFill>
                <a:latin typeface="Aptos"/>
              </a:rPr>
              <a:t>Rank deficiency is not just a linear-algebra curiosity — it changes the geometry of learning.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630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" b="1" i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463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 i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03B7B"/>
                </a:solidFill>
                <a:latin typeface="Aptos"/>
              </a:rPr>
              <a:t>Logistic loss needs both calculus and stable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18872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67085"/>
                </a:solidFill>
                <a:latin typeface="Aptos"/>
              </a:rPr>
              <a:t>Correct formulas are only half the battle; the implementation must also remain numerically stable.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30" b="0" i="0">
                <a:solidFill>
                  <a:srgbClr val="6B7A90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645920"/>
            <a:ext cx="1102766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1773936"/>
            <a:ext cx="10698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OBJECTIVE</a:t>
            </a:r>
          </a:p>
        </p:txBody>
      </p:sp>
      <p:pic>
        <p:nvPicPr>
          <p:cNvPr id="10" name="Picture 9" descr="log_ob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957" y="1791416"/>
            <a:ext cx="5334143" cy="67409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12064" y="2706624"/>
            <a:ext cx="4709160" cy="9986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2064" y="2706624"/>
            <a:ext cx="45719" cy="998696"/>
          </a:xfrm>
          <a:prstGeom prst="rect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2862072"/>
            <a:ext cx="4078039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 dirty="0">
                <a:solidFill>
                  <a:srgbClr val="2A3957"/>
                </a:solidFill>
                <a:latin typeface="Consolas"/>
              </a:rPr>
              <a:t>def </a:t>
            </a:r>
            <a:r>
              <a:rPr sz="1200" b="0" dirty="0" err="1">
                <a:solidFill>
                  <a:srgbClr val="2A3957"/>
                </a:solidFill>
                <a:latin typeface="Consolas"/>
              </a:rPr>
              <a:t>logistic_loss</a:t>
            </a:r>
            <a:r>
              <a:rPr sz="1200" b="0" dirty="0">
                <a:solidFill>
                  <a:srgbClr val="2A3957"/>
                </a:solidFill>
                <a:latin typeface="Consolas"/>
              </a:rPr>
              <a:t>(w, X, y, l2=0.0):
    margin = y * (X @ w)
    return (</a:t>
            </a:r>
            <a:r>
              <a:rPr sz="1200" b="0" dirty="0" err="1">
                <a:solidFill>
                  <a:srgbClr val="2A3957"/>
                </a:solidFill>
                <a:latin typeface="Consolas"/>
              </a:rPr>
              <a:t>np.mean</a:t>
            </a:r>
            <a:r>
              <a:rPr sz="1200" b="0" dirty="0">
                <a:solidFill>
                  <a:srgbClr val="2A3957"/>
                </a:solidFill>
                <a:latin typeface="Consolas"/>
              </a:rPr>
              <a:t>(</a:t>
            </a:r>
            <a:r>
              <a:rPr sz="1200" b="0" dirty="0" err="1">
                <a:solidFill>
                  <a:srgbClr val="2A3957"/>
                </a:solidFill>
                <a:latin typeface="Consolas"/>
              </a:rPr>
              <a:t>np.logaddexp</a:t>
            </a:r>
            <a:r>
              <a:rPr sz="1200" b="0" dirty="0">
                <a:solidFill>
                  <a:srgbClr val="2A3957"/>
                </a:solidFill>
                <a:latin typeface="Consolas"/>
              </a:rPr>
              <a:t>(0.0, -margin))
            + 0.5*l2*(w @ w))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2" y="3833336"/>
            <a:ext cx="4709159" cy="13787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2064" y="3869912"/>
            <a:ext cx="45719" cy="1305592"/>
          </a:xfrm>
          <a:prstGeom prst="rect">
            <a:avLst/>
          </a:prstGeom>
          <a:solidFill>
            <a:srgbClr val="37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4153376"/>
            <a:ext cx="3738203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 dirty="0">
                <a:solidFill>
                  <a:srgbClr val="2A3957"/>
                </a:solidFill>
                <a:latin typeface="Consolas"/>
              </a:rPr>
              <a:t>def </a:t>
            </a:r>
            <a:r>
              <a:rPr sz="1200" b="0" dirty="0" err="1">
                <a:solidFill>
                  <a:srgbClr val="2A3957"/>
                </a:solidFill>
                <a:latin typeface="Consolas"/>
              </a:rPr>
              <a:t>logistic_grad</a:t>
            </a:r>
            <a:r>
              <a:rPr sz="1200" b="0" dirty="0">
                <a:solidFill>
                  <a:srgbClr val="2A3957"/>
                </a:solidFill>
                <a:latin typeface="Consolas"/>
              </a:rPr>
              <a:t>(w, X, y, l2=0.0):
    margin = y * (X @ w)
    weights = -y / (1.0 + </a:t>
            </a:r>
            <a:r>
              <a:rPr sz="1200" b="0" dirty="0" err="1">
                <a:solidFill>
                  <a:srgbClr val="2A3957"/>
                </a:solidFill>
                <a:latin typeface="Consolas"/>
              </a:rPr>
              <a:t>np.exp</a:t>
            </a:r>
            <a:r>
              <a:rPr sz="1200" b="0" dirty="0">
                <a:solidFill>
                  <a:srgbClr val="2A3957"/>
                </a:solidFill>
                <a:latin typeface="Consolas"/>
              </a:rPr>
              <a:t>(margin))
    return X.T @ weights / </a:t>
            </a:r>
            <a:r>
              <a:rPr sz="1200" b="0" dirty="0" err="1">
                <a:solidFill>
                  <a:srgbClr val="2A3957"/>
                </a:solidFill>
                <a:latin typeface="Consolas"/>
              </a:rPr>
              <a:t>X.shape</a:t>
            </a:r>
            <a:r>
              <a:rPr sz="1200" b="0" dirty="0">
                <a:solidFill>
                  <a:srgbClr val="2A3957"/>
                </a:solidFill>
                <a:latin typeface="Consolas"/>
              </a:rPr>
              <a:t>[0] + l2*w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38092" y="2706624"/>
            <a:ext cx="5701636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2798064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EA5D9"/>
                </a:solidFill>
                <a:latin typeface="Aptos"/>
              </a:rPr>
              <a:t>LOGISTIC LOSS VS MARGIN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358383"/>
            <a:ext cx="11027664" cy="98699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" y="5486400"/>
            <a:ext cx="10698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STABILITY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5831865"/>
            <a:ext cx="10698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103B7B"/>
                </a:solidFill>
                <a:latin typeface="Aptos"/>
              </a:rPr>
              <a:t>np.logaddexp</a:t>
            </a:r>
            <a:r>
              <a:rPr sz="1800" b="1" i="0" dirty="0">
                <a:solidFill>
                  <a:srgbClr val="103B7B"/>
                </a:solidFill>
                <a:latin typeface="Aptos"/>
              </a:rPr>
              <a:t> is preferred because log(1 + exp(z)) can overflow for large z.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2990088"/>
            <a:ext cx="288036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630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" b="1" i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463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 i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03B7B"/>
                </a:solidFill>
                <a:latin typeface="Aptos"/>
              </a:rPr>
              <a:t>Exercise 3 — find the bugs without running the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18872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67085"/>
                </a:solidFill>
                <a:latin typeface="Aptos"/>
              </a:rPr>
              <a:t>Several conceptual mistakes are hiding in just a few 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30" b="0" i="0">
                <a:solidFill>
                  <a:srgbClr val="6B7A90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664208"/>
            <a:ext cx="5468112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" y="1664208"/>
            <a:ext cx="54864" cy="21031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099636"/>
            <a:ext cx="4938853" cy="1107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dirty="0">
                <a:solidFill>
                  <a:srgbClr val="2A3957"/>
                </a:solidFill>
                <a:latin typeface="Consolas"/>
              </a:rPr>
              <a:t>def </a:t>
            </a:r>
            <a:r>
              <a:rPr dirty="0" err="1">
                <a:solidFill>
                  <a:srgbClr val="2A3957"/>
                </a:solidFill>
                <a:latin typeface="Consolas"/>
              </a:rPr>
              <a:t>broken_grad</a:t>
            </a:r>
            <a:r>
              <a:rPr dirty="0">
                <a:solidFill>
                  <a:srgbClr val="2A3957"/>
                </a:solidFill>
                <a:latin typeface="Consolas"/>
              </a:rPr>
              <a:t>(w, X, y, l2):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dirty="0">
                <a:solidFill>
                  <a:srgbClr val="2A3957"/>
                </a:solidFill>
                <a:latin typeface="Consolas"/>
              </a:rPr>
              <a:t>    margin = y * X @ w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dirty="0">
                <a:solidFill>
                  <a:srgbClr val="2A3957"/>
                </a:solidFill>
                <a:latin typeface="Consolas"/>
              </a:rPr>
              <a:t>    weights = y / (1 + </a:t>
            </a:r>
            <a:r>
              <a:rPr dirty="0" err="1">
                <a:solidFill>
                  <a:srgbClr val="2A3957"/>
                </a:solidFill>
                <a:latin typeface="Consolas"/>
              </a:rPr>
              <a:t>np.exp</a:t>
            </a:r>
            <a:r>
              <a:rPr dirty="0">
                <a:solidFill>
                  <a:srgbClr val="2A3957"/>
                </a:solidFill>
                <a:latin typeface="Consolas"/>
              </a:rPr>
              <a:t>(-margin))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dirty="0">
                <a:solidFill>
                  <a:srgbClr val="2A3957"/>
                </a:solidFill>
                <a:latin typeface="Consolas"/>
              </a:rPr>
              <a:t>    return X @ weights + 2*l2*w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64207"/>
            <a:ext cx="5340096" cy="667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64224" y="1764792"/>
            <a:ext cx="5010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BUG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004486"/>
            <a:ext cx="5010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103B7B"/>
                </a:solidFill>
                <a:latin typeface="Aptos"/>
              </a:rPr>
              <a:t>Operator precedence in the margin.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2481402"/>
            <a:ext cx="5340096" cy="61452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2595280"/>
            <a:ext cx="5010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0EA5D9"/>
                </a:solidFill>
                <a:latin typeface="Aptos"/>
              </a:rPr>
              <a:t>BUG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788598"/>
            <a:ext cx="5010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103B7B"/>
                </a:solidFill>
                <a:latin typeface="Aptos"/>
              </a:rPr>
              <a:t>Wrong sign and wrong sigmoid argument.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222066"/>
            <a:ext cx="5340096" cy="6292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64224" y="3279518"/>
            <a:ext cx="5010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0EA5D9"/>
                </a:solidFill>
                <a:latin typeface="Aptos"/>
              </a:rPr>
              <a:t>BUG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519212"/>
            <a:ext cx="5010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103B7B"/>
                </a:solidFill>
                <a:latin typeface="Aptos"/>
              </a:rPr>
              <a:t>Matrix dimensions are inconsistent.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977408"/>
            <a:ext cx="5340096" cy="5625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4034140"/>
            <a:ext cx="5010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374B9B"/>
                </a:solidFill>
                <a:latin typeface="Aptos"/>
              </a:rPr>
              <a:t>BUG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4220412"/>
            <a:ext cx="5010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103B7B"/>
                </a:solidFill>
                <a:latin typeface="Aptos"/>
              </a:rPr>
              <a:t>Mean-versus-sum scaling is missing.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4648900"/>
            <a:ext cx="5340096" cy="6159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64224" y="4716192"/>
            <a:ext cx="5010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374B9B"/>
                </a:solidFill>
                <a:latin typeface="Aptos"/>
              </a:rPr>
              <a:t>BUG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4886176"/>
            <a:ext cx="5010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103B7B"/>
                </a:solidFill>
                <a:latin typeface="Aptos"/>
              </a:rPr>
              <a:t>Regularizer</a:t>
            </a:r>
            <a:r>
              <a:rPr sz="1800" b="1" i="0" dirty="0">
                <a:solidFill>
                  <a:srgbClr val="103B7B"/>
                </a:solidFill>
                <a:latin typeface="Aptos"/>
              </a:rPr>
              <a:t> convention does not match </a:t>
            </a:r>
            <a:r>
              <a:rPr sz="1800" b="1" i="0" dirty="0" err="1">
                <a:solidFill>
                  <a:srgbClr val="103B7B"/>
                </a:solidFill>
                <a:latin typeface="Aptos"/>
              </a:rPr>
              <a:t>λ</a:t>
            </a:r>
            <a:r>
              <a:rPr sz="1800" b="1" i="0" dirty="0">
                <a:solidFill>
                  <a:srgbClr val="103B7B"/>
                </a:solidFill>
                <a:latin typeface="Aptos"/>
              </a:rPr>
              <a:t>/2‖w‖².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" y="5456856"/>
            <a:ext cx="11027664" cy="548640"/>
          </a:xfrm>
          <a:prstGeom prst="roundRect">
            <a:avLst/>
          </a:prstGeom>
          <a:solidFill>
            <a:srgbClr val="EEF7FB"/>
          </a:solidFill>
          <a:ln w="12700">
            <a:solidFill>
              <a:srgbClr val="EE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6655" y="5584872"/>
            <a:ext cx="146866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EA5D9"/>
                </a:solidFill>
                <a:latin typeface="Aptos"/>
              </a:rPr>
              <a:t>PRACTICE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57984" y="5530008"/>
            <a:ext cx="9235440" cy="4023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103B7B"/>
                </a:solidFill>
                <a:latin typeface="Aptos"/>
              </a:rPr>
              <a:t>Try to explain each bug in words, not just by editing the code.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630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" b="1" i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463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 i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03B7B"/>
                </a:solidFill>
                <a:latin typeface="Aptos"/>
              </a:rPr>
              <a:t>Exercise 3 — one consistent 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18872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67085"/>
                </a:solidFill>
                <a:latin typeface="Aptos"/>
              </a:rPr>
              <a:t>A correct gradient should match the objective, the array shapes and the scaling convention.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30" b="0" i="0">
                <a:solidFill>
                  <a:srgbClr val="6B7A90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664208"/>
            <a:ext cx="11027664" cy="20299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" y="1664208"/>
            <a:ext cx="54864" cy="2029968"/>
          </a:xfrm>
          <a:prstGeom prst="rect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2163" y="2039885"/>
            <a:ext cx="5825313" cy="1107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dirty="0">
                <a:solidFill>
                  <a:srgbClr val="2A3957"/>
                </a:solidFill>
                <a:latin typeface="Consolas"/>
              </a:rPr>
              <a:t>def </a:t>
            </a:r>
            <a:r>
              <a:rPr dirty="0" err="1">
                <a:solidFill>
                  <a:srgbClr val="2A3957"/>
                </a:solidFill>
                <a:latin typeface="Consolas"/>
              </a:rPr>
              <a:t>logistic_grad</a:t>
            </a:r>
            <a:r>
              <a:rPr dirty="0">
                <a:solidFill>
                  <a:srgbClr val="2A3957"/>
                </a:solidFill>
                <a:latin typeface="Consolas"/>
              </a:rPr>
              <a:t>(w, X, y, l2):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dirty="0">
                <a:solidFill>
                  <a:srgbClr val="2A3957"/>
                </a:solidFill>
                <a:latin typeface="Consolas"/>
              </a:rPr>
              <a:t>    margin = y * (X @ w)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dirty="0">
                <a:solidFill>
                  <a:srgbClr val="2A3957"/>
                </a:solidFill>
                <a:latin typeface="Consolas"/>
              </a:rPr>
              <a:t>    weights = -y / (1.0 + </a:t>
            </a:r>
            <a:r>
              <a:rPr dirty="0" err="1">
                <a:solidFill>
                  <a:srgbClr val="2A3957"/>
                </a:solidFill>
                <a:latin typeface="Consolas"/>
              </a:rPr>
              <a:t>np.exp</a:t>
            </a:r>
            <a:r>
              <a:rPr dirty="0">
                <a:solidFill>
                  <a:srgbClr val="2A3957"/>
                </a:solidFill>
                <a:latin typeface="Consolas"/>
              </a:rPr>
              <a:t>(margin))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dirty="0">
                <a:solidFill>
                  <a:srgbClr val="2A3957"/>
                </a:solidFill>
                <a:latin typeface="Consolas"/>
              </a:rPr>
              <a:t>    return X.T @ weights / </a:t>
            </a:r>
            <a:r>
              <a:rPr dirty="0" err="1">
                <a:solidFill>
                  <a:srgbClr val="2A3957"/>
                </a:solidFill>
                <a:latin typeface="Consolas"/>
              </a:rPr>
              <a:t>X.shape</a:t>
            </a:r>
            <a:r>
              <a:rPr dirty="0">
                <a:solidFill>
                  <a:srgbClr val="2A3957"/>
                </a:solidFill>
                <a:latin typeface="Consolas"/>
              </a:rPr>
              <a:t>[0] + l2 * 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" y="3931920"/>
            <a:ext cx="3438144" cy="14427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4059935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TEST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4315968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03B7B"/>
                </a:solidFill>
                <a:latin typeface="Aptos"/>
              </a:rPr>
              <a:t>Extreme margins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474901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667085"/>
                </a:solidFill>
                <a:latin typeface="Aptos"/>
              </a:rPr>
              <a:t>Detect instability and sign mistakes.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3931920"/>
            <a:ext cx="3438144" cy="14427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59" y="4059935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74B9B"/>
                </a:solidFill>
                <a:latin typeface="Aptos"/>
              </a:rPr>
              <a:t>TEST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4315968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03B7B"/>
                </a:solidFill>
                <a:latin typeface="Aptos"/>
              </a:rPr>
              <a:t>λ =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470001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667085"/>
                </a:solidFill>
                <a:latin typeface="Aptos"/>
              </a:rPr>
              <a:t>Check the unregularized case separately.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3931920"/>
            <a:ext cx="3419856" cy="14427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4464" y="4059935"/>
            <a:ext cx="3090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TEST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4315968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03B7B"/>
                </a:solidFill>
                <a:latin typeface="Aptos"/>
              </a:rPr>
              <a:t>Non-square 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4700016"/>
            <a:ext cx="30906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667085"/>
                </a:solidFill>
                <a:latin typeface="Aptos"/>
              </a:rPr>
              <a:t>Shape bugs often appear only away from square matrices.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" y="5518285"/>
            <a:ext cx="11027664" cy="548640"/>
          </a:xfrm>
          <a:prstGeom prst="roundRect">
            <a:avLst/>
          </a:prstGeom>
          <a:solidFill>
            <a:srgbClr val="EEF7FB"/>
          </a:solidFill>
          <a:ln w="12700">
            <a:solidFill>
              <a:srgbClr val="EE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2163" y="5646301"/>
            <a:ext cx="914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0EA5D9"/>
                </a:solidFill>
                <a:latin typeface="Aptos"/>
              </a:rPr>
              <a:t>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55648" y="5591437"/>
            <a:ext cx="9418320" cy="4023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103B7B"/>
                </a:solidFill>
                <a:latin typeface="Aptos"/>
              </a:rPr>
              <a:t>A single random test is not enough — include edge cases that target specific failure modes.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630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" b="1" i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463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 i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103B7B"/>
                </a:solidFill>
                <a:latin typeface="Aptos"/>
              </a:rPr>
              <a:t>Directional checks scale to large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18872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67085"/>
                </a:solidFill>
                <a:latin typeface="Aptos"/>
              </a:rPr>
              <a:t>When d is large, full coordinate-wise finite differences may be too expensive.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30" b="0" i="0">
                <a:solidFill>
                  <a:srgbClr val="6B7A90"/>
                </a:solidFill>
                <a:latin typeface="Aptos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664208"/>
            <a:ext cx="1102766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1783080"/>
            <a:ext cx="106984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0EA5D9"/>
                </a:solidFill>
                <a:latin typeface="Aptos"/>
              </a:rPr>
              <a:t>DIRECTIONAL CHECK</a:t>
            </a:r>
          </a:p>
        </p:txBody>
      </p:sp>
      <p:pic>
        <p:nvPicPr>
          <p:cNvPr id="10" name="Picture 9" descr="dir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808" y="1839597"/>
            <a:ext cx="3633216" cy="50073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12064" y="2706624"/>
            <a:ext cx="4709160" cy="266268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4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2064" y="2706624"/>
            <a:ext cx="45719" cy="2662682"/>
          </a:xfrm>
          <a:prstGeom prst="rect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5" y="3436700"/>
            <a:ext cx="3993081" cy="1107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def </a:t>
            </a:r>
            <a:r>
              <a:rPr sz="1200" dirty="0" err="1">
                <a:solidFill>
                  <a:srgbClr val="2A3957"/>
                </a:solidFill>
                <a:latin typeface="Consolas"/>
              </a:rPr>
              <a:t>directional_check</a:t>
            </a:r>
            <a:r>
              <a:rPr sz="1200" dirty="0">
                <a:solidFill>
                  <a:srgbClr val="2A3957"/>
                </a:solidFill>
                <a:latin typeface="Consolas"/>
              </a:rPr>
              <a:t>(f, grad, w, </a:t>
            </a:r>
            <a:r>
              <a:rPr sz="1200" dirty="0" err="1">
                <a:solidFill>
                  <a:srgbClr val="2A3957"/>
                </a:solidFill>
                <a:latin typeface="Consolas"/>
              </a:rPr>
              <a:t>rng</a:t>
            </a:r>
            <a:r>
              <a:rPr sz="1200" dirty="0">
                <a:solidFill>
                  <a:srgbClr val="2A3957"/>
                </a:solidFill>
                <a:latin typeface="Consolas"/>
              </a:rPr>
              <a:t>, h=1e-5):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    v = </a:t>
            </a:r>
            <a:r>
              <a:rPr sz="1200" dirty="0" err="1">
                <a:solidFill>
                  <a:srgbClr val="2A3957"/>
                </a:solidFill>
                <a:latin typeface="Consolas"/>
              </a:rPr>
              <a:t>rng.normal</a:t>
            </a:r>
            <a:r>
              <a:rPr sz="1200" dirty="0">
                <a:solidFill>
                  <a:srgbClr val="2A3957"/>
                </a:solidFill>
                <a:latin typeface="Consolas"/>
              </a:rPr>
              <a:t>(size=</a:t>
            </a:r>
            <a:r>
              <a:rPr sz="1200" dirty="0" err="1">
                <a:solidFill>
                  <a:srgbClr val="2A3957"/>
                </a:solidFill>
                <a:latin typeface="Consolas"/>
              </a:rPr>
              <a:t>w.shape</a:t>
            </a:r>
            <a:r>
              <a:rPr sz="1200" dirty="0">
                <a:solidFill>
                  <a:srgbClr val="2A3957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    v /= </a:t>
            </a:r>
            <a:r>
              <a:rPr sz="1200" dirty="0" err="1">
                <a:solidFill>
                  <a:srgbClr val="2A3957"/>
                </a:solidFill>
                <a:latin typeface="Consolas"/>
              </a:rPr>
              <a:t>np.linalg.norm</a:t>
            </a:r>
            <a:r>
              <a:rPr sz="1200" dirty="0">
                <a:solidFill>
                  <a:srgbClr val="2A3957"/>
                </a:solidFill>
                <a:latin typeface="Consolas"/>
              </a:rPr>
              <a:t>(v)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    analytic = grad(w) @ 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    numeric = (f(</a:t>
            </a:r>
            <a:r>
              <a:rPr sz="1200" dirty="0" err="1">
                <a:solidFill>
                  <a:srgbClr val="2A3957"/>
                </a:solidFill>
                <a:latin typeface="Consolas"/>
              </a:rPr>
              <a:t>w+h</a:t>
            </a:r>
            <a:r>
              <a:rPr sz="1200" dirty="0">
                <a:solidFill>
                  <a:srgbClr val="2A3957"/>
                </a:solidFill>
                <a:latin typeface="Consolas"/>
              </a:rPr>
              <a:t>*v)-f(w-h*v))/(2*h)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dirty="0">
                <a:solidFill>
                  <a:srgbClr val="2A3957"/>
                </a:solidFill>
                <a:latin typeface="Consolas"/>
              </a:rPr>
              <a:t>    return analytic, numeric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9824" y="2706623"/>
            <a:ext cx="2971800" cy="261049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14416" y="2834640"/>
            <a:ext cx="26426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0EA5D9"/>
                </a:solidFill>
                <a:latin typeface="Aptos"/>
              </a:rPr>
              <a:t>GEOMETRIC 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50224" y="2743200"/>
            <a:ext cx="2889504" cy="12360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14816" y="2871216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816" y="3127892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dirty="0">
                <a:solidFill>
                  <a:srgbClr val="103B7B"/>
                </a:solidFill>
                <a:latin typeface="Aptos"/>
              </a:rPr>
              <a:t>Only two function evaluations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4816" y="3441133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667085"/>
                </a:solidFill>
                <a:latin typeface="Aptos"/>
              </a:rPr>
              <a:t>Compared with 2d evaluations for a full coordinate check.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50224" y="4160284"/>
            <a:ext cx="2889504" cy="1156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14816" y="4247504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374B9B"/>
                </a:solidFill>
                <a:latin typeface="Aptos"/>
              </a:rPr>
              <a:t>LIMITATION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4816" y="4466961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dirty="0">
                <a:solidFill>
                  <a:srgbClr val="103B7B"/>
                </a:solidFill>
                <a:latin typeface="Aptos"/>
              </a:rPr>
              <a:t>One direction is not enough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14816" y="4779966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667085"/>
                </a:solidFill>
                <a:latin typeface="Aptos"/>
              </a:rPr>
              <a:t>Use several random directions for stronger coverage.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" y="5536573"/>
            <a:ext cx="11027664" cy="548640"/>
          </a:xfrm>
          <a:prstGeom prst="roundRect">
            <a:avLst/>
          </a:prstGeom>
          <a:solidFill>
            <a:srgbClr val="EEF7FB"/>
          </a:solidFill>
          <a:ln w="12700">
            <a:solidFill>
              <a:srgbClr val="EE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" y="5702502"/>
            <a:ext cx="1325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0EA5D9"/>
                </a:solidFill>
                <a:latin typeface="Aptos"/>
              </a:rPr>
              <a:t>WHEN TO 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85416" y="5628012"/>
            <a:ext cx="9006840" cy="4023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103B7B"/>
                </a:solidFill>
                <a:latin typeface="Aptos"/>
              </a:rPr>
              <a:t>Directional checks are a practical compromise for high-dimensional or expensive objectives.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79633CD-942A-EDA1-91B0-17A3DB046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971" y="3071681"/>
            <a:ext cx="2723505" cy="204262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630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" b="1" i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463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 i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03B7B"/>
                </a:solidFill>
                <a:latin typeface="Aptos"/>
              </a:rPr>
              <a:t>Mini-lab — build a gradient audit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18872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67085"/>
                </a:solidFill>
                <a:latin typeface="Aptos"/>
              </a:rPr>
              <a:t>Compare multiple objectives using the same diagnostic template.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30" b="0" i="0">
                <a:solidFill>
                  <a:srgbClr val="6B7A90"/>
                </a:solidFill>
                <a:latin typeface="Aptos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1918363"/>
            <a:ext cx="2834640" cy="402336"/>
          </a:xfrm>
          <a:prstGeom prst="rect">
            <a:avLst/>
          </a:prstGeom>
          <a:solidFill>
            <a:srgbClr val="103B7B"/>
          </a:solidFill>
          <a:ln w="12700">
            <a:solidFill>
              <a:srgbClr val="103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603504" y="2009803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OBJECTIVE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6704" y="1918363"/>
            <a:ext cx="1371600" cy="402336"/>
          </a:xfrm>
          <a:prstGeom prst="rect">
            <a:avLst/>
          </a:prstGeom>
          <a:solidFill>
            <a:srgbClr val="103B7B"/>
          </a:solidFill>
          <a:ln w="12700">
            <a:solidFill>
              <a:srgbClr val="103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3438144" y="2009803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DIM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18304" y="1918363"/>
            <a:ext cx="1371600" cy="402336"/>
          </a:xfrm>
          <a:prstGeom prst="rect">
            <a:avLst/>
          </a:prstGeom>
          <a:solidFill>
            <a:srgbClr val="103B7B"/>
          </a:solidFill>
          <a:ln w="12700">
            <a:solidFill>
              <a:srgbClr val="103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4809744" y="2009803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1918363"/>
            <a:ext cx="2560320" cy="402336"/>
          </a:xfrm>
          <a:prstGeom prst="rect">
            <a:avLst/>
          </a:prstGeom>
          <a:solidFill>
            <a:srgbClr val="103B7B"/>
          </a:solidFill>
          <a:ln w="12700">
            <a:solidFill>
              <a:srgbClr val="103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6181344" y="2009803"/>
            <a:ext cx="237743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RELATIVE ERROR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50224" y="1918363"/>
            <a:ext cx="2889504" cy="402336"/>
          </a:xfrm>
          <a:prstGeom prst="rect">
            <a:avLst/>
          </a:prstGeom>
          <a:solidFill>
            <a:srgbClr val="103B7B"/>
          </a:solidFill>
          <a:ln w="12700">
            <a:solidFill>
              <a:srgbClr val="103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8741664" y="2009803"/>
            <a:ext cx="27066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" y="2302411"/>
            <a:ext cx="2834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603504" y="2439570"/>
            <a:ext cx="2651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03B7B"/>
                </a:solidFill>
                <a:latin typeface="Aptos"/>
              </a:rPr>
              <a:t>Quadratic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46704" y="2302411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3145536" y="2426312"/>
            <a:ext cx="99669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2000"/>
          </a:p>
        </p:txBody>
      </p:sp>
      <p:sp>
        <p:nvSpPr>
          <p:cNvPr id="22" name="Rectangle 21"/>
          <p:cNvSpPr/>
          <p:nvPr/>
        </p:nvSpPr>
        <p:spPr>
          <a:xfrm>
            <a:off x="4718304" y="2302411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4288536" y="2426312"/>
            <a:ext cx="99669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2000"/>
          </a:p>
        </p:txBody>
      </p:sp>
      <p:sp>
        <p:nvSpPr>
          <p:cNvPr id="24" name="Rectangle 23"/>
          <p:cNvSpPr/>
          <p:nvPr/>
        </p:nvSpPr>
        <p:spPr>
          <a:xfrm>
            <a:off x="6089904" y="2302411"/>
            <a:ext cx="25603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5431536" y="2426312"/>
            <a:ext cx="195681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2000"/>
          </a:p>
        </p:txBody>
      </p:sp>
      <p:sp>
        <p:nvSpPr>
          <p:cNvPr id="26" name="Rectangle 25"/>
          <p:cNvSpPr/>
          <p:nvPr/>
        </p:nvSpPr>
        <p:spPr>
          <a:xfrm>
            <a:off x="8650224" y="2302411"/>
            <a:ext cx="288950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7534656" y="2426312"/>
            <a:ext cx="223113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2000"/>
          </a:p>
        </p:txBody>
      </p:sp>
      <p:sp>
        <p:nvSpPr>
          <p:cNvPr id="28" name="Rectangle 27"/>
          <p:cNvSpPr/>
          <p:nvPr/>
        </p:nvSpPr>
        <p:spPr>
          <a:xfrm>
            <a:off x="512064" y="2796187"/>
            <a:ext cx="2834640" cy="512064"/>
          </a:xfrm>
          <a:prstGeom prst="rect">
            <a:avLst/>
          </a:prstGeom>
          <a:solidFill>
            <a:srgbClr val="F6F8FC"/>
          </a:solidFill>
          <a:ln w="12700">
            <a:solidFill>
              <a:srgbClr val="E4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000"/>
          </a:p>
        </p:txBody>
      </p:sp>
      <p:sp>
        <p:nvSpPr>
          <p:cNvPr id="29" name="TextBox 28"/>
          <p:cNvSpPr txBox="1"/>
          <p:nvPr/>
        </p:nvSpPr>
        <p:spPr>
          <a:xfrm>
            <a:off x="603504" y="2933347"/>
            <a:ext cx="2651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03B7B"/>
                </a:solidFill>
                <a:latin typeface="Aptos"/>
              </a:rPr>
              <a:t>MSE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46704" y="2796187"/>
            <a:ext cx="1371600" cy="512064"/>
          </a:xfrm>
          <a:prstGeom prst="rect">
            <a:avLst/>
          </a:prstGeom>
          <a:solidFill>
            <a:srgbClr val="F6F8FC"/>
          </a:solidFill>
          <a:ln w="12700">
            <a:solidFill>
              <a:srgbClr val="E4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3145536" y="2920453"/>
            <a:ext cx="99669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2000"/>
          </a:p>
        </p:txBody>
      </p:sp>
      <p:sp>
        <p:nvSpPr>
          <p:cNvPr id="32" name="Rectangle 31"/>
          <p:cNvSpPr/>
          <p:nvPr/>
        </p:nvSpPr>
        <p:spPr>
          <a:xfrm>
            <a:off x="4718304" y="2796187"/>
            <a:ext cx="1371600" cy="512064"/>
          </a:xfrm>
          <a:prstGeom prst="rect">
            <a:avLst/>
          </a:prstGeom>
          <a:solidFill>
            <a:srgbClr val="F6F8FC"/>
          </a:solidFill>
          <a:ln w="12700">
            <a:solidFill>
              <a:srgbClr val="E4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000"/>
          </a:p>
        </p:txBody>
      </p:sp>
      <p:sp>
        <p:nvSpPr>
          <p:cNvPr id="33" name="TextBox 32"/>
          <p:cNvSpPr txBox="1"/>
          <p:nvPr/>
        </p:nvSpPr>
        <p:spPr>
          <a:xfrm>
            <a:off x="4288536" y="2920453"/>
            <a:ext cx="99669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2000"/>
          </a:p>
        </p:txBody>
      </p:sp>
      <p:sp>
        <p:nvSpPr>
          <p:cNvPr id="34" name="Rectangle 33"/>
          <p:cNvSpPr/>
          <p:nvPr/>
        </p:nvSpPr>
        <p:spPr>
          <a:xfrm>
            <a:off x="6089904" y="2796187"/>
            <a:ext cx="2560320" cy="512064"/>
          </a:xfrm>
          <a:prstGeom prst="rect">
            <a:avLst/>
          </a:prstGeom>
          <a:solidFill>
            <a:srgbClr val="F6F8FC"/>
          </a:solidFill>
          <a:ln w="12700">
            <a:solidFill>
              <a:srgbClr val="E4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5431536" y="2920453"/>
            <a:ext cx="195681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2000"/>
          </a:p>
        </p:txBody>
      </p:sp>
      <p:sp>
        <p:nvSpPr>
          <p:cNvPr id="36" name="Rectangle 35"/>
          <p:cNvSpPr/>
          <p:nvPr/>
        </p:nvSpPr>
        <p:spPr>
          <a:xfrm>
            <a:off x="8650224" y="2796187"/>
            <a:ext cx="2889504" cy="512064"/>
          </a:xfrm>
          <a:prstGeom prst="rect">
            <a:avLst/>
          </a:prstGeom>
          <a:solidFill>
            <a:srgbClr val="F6F8FC"/>
          </a:solidFill>
          <a:ln w="12700">
            <a:solidFill>
              <a:srgbClr val="E4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000"/>
          </a:p>
        </p:txBody>
      </p:sp>
      <p:sp>
        <p:nvSpPr>
          <p:cNvPr id="37" name="TextBox 36"/>
          <p:cNvSpPr txBox="1"/>
          <p:nvPr/>
        </p:nvSpPr>
        <p:spPr>
          <a:xfrm>
            <a:off x="7534656" y="2920453"/>
            <a:ext cx="223113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2000"/>
          </a:p>
        </p:txBody>
      </p:sp>
      <p:sp>
        <p:nvSpPr>
          <p:cNvPr id="38" name="Rectangle 37"/>
          <p:cNvSpPr/>
          <p:nvPr/>
        </p:nvSpPr>
        <p:spPr>
          <a:xfrm>
            <a:off x="512064" y="3289963"/>
            <a:ext cx="2834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603504" y="3427123"/>
            <a:ext cx="2651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03B7B"/>
                </a:solidFill>
                <a:latin typeface="Aptos"/>
              </a:rPr>
              <a:t>Logistic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46704" y="3289963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000"/>
          </a:p>
        </p:txBody>
      </p:sp>
      <p:sp>
        <p:nvSpPr>
          <p:cNvPr id="41" name="TextBox 40"/>
          <p:cNvSpPr txBox="1"/>
          <p:nvPr/>
        </p:nvSpPr>
        <p:spPr>
          <a:xfrm>
            <a:off x="3145536" y="3414595"/>
            <a:ext cx="99669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2000"/>
          </a:p>
        </p:txBody>
      </p:sp>
      <p:sp>
        <p:nvSpPr>
          <p:cNvPr id="42" name="Rectangle 41"/>
          <p:cNvSpPr/>
          <p:nvPr/>
        </p:nvSpPr>
        <p:spPr>
          <a:xfrm>
            <a:off x="4718304" y="3289963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000"/>
          </a:p>
        </p:txBody>
      </p:sp>
      <p:sp>
        <p:nvSpPr>
          <p:cNvPr id="43" name="TextBox 42"/>
          <p:cNvSpPr txBox="1"/>
          <p:nvPr/>
        </p:nvSpPr>
        <p:spPr>
          <a:xfrm>
            <a:off x="4288536" y="3414595"/>
            <a:ext cx="99669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2000"/>
          </a:p>
        </p:txBody>
      </p:sp>
      <p:sp>
        <p:nvSpPr>
          <p:cNvPr id="44" name="Rectangle 43"/>
          <p:cNvSpPr/>
          <p:nvPr/>
        </p:nvSpPr>
        <p:spPr>
          <a:xfrm>
            <a:off x="6089904" y="3289963"/>
            <a:ext cx="25603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000"/>
          </a:p>
        </p:txBody>
      </p:sp>
      <p:sp>
        <p:nvSpPr>
          <p:cNvPr id="45" name="TextBox 44"/>
          <p:cNvSpPr txBox="1"/>
          <p:nvPr/>
        </p:nvSpPr>
        <p:spPr>
          <a:xfrm>
            <a:off x="5431536" y="3414595"/>
            <a:ext cx="195681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2000"/>
          </a:p>
        </p:txBody>
      </p:sp>
      <p:sp>
        <p:nvSpPr>
          <p:cNvPr id="46" name="Rectangle 45"/>
          <p:cNvSpPr/>
          <p:nvPr/>
        </p:nvSpPr>
        <p:spPr>
          <a:xfrm>
            <a:off x="8650224" y="3289963"/>
            <a:ext cx="288950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2000"/>
          </a:p>
        </p:txBody>
      </p:sp>
      <p:sp>
        <p:nvSpPr>
          <p:cNvPr id="47" name="TextBox 46"/>
          <p:cNvSpPr txBox="1"/>
          <p:nvPr/>
        </p:nvSpPr>
        <p:spPr>
          <a:xfrm>
            <a:off x="7534656" y="3414595"/>
            <a:ext cx="223113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2000"/>
          </a:p>
        </p:txBody>
      </p:sp>
      <p:sp>
        <p:nvSpPr>
          <p:cNvPr id="48" name="Rounded Rectangle 47"/>
          <p:cNvSpPr/>
          <p:nvPr/>
        </p:nvSpPr>
        <p:spPr>
          <a:xfrm>
            <a:off x="512064" y="4210458"/>
            <a:ext cx="5431536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76656" y="4404041"/>
            <a:ext cx="510235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EA5D9"/>
                </a:solidFill>
                <a:latin typeface="Aptos"/>
              </a:rPr>
              <a:t>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2753" y="4439058"/>
            <a:ext cx="5102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103B7B"/>
                </a:solidFill>
                <a:latin typeface="Aptos"/>
              </a:rPr>
              <a:t>At least five random points per objective.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08192" y="4210458"/>
            <a:ext cx="5431536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72783" y="4404041"/>
            <a:ext cx="510235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EA5D9"/>
                </a:solidFill>
                <a:latin typeface="Aptos"/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11696" y="4393338"/>
            <a:ext cx="5102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03B7B"/>
                </a:solidFill>
                <a:latin typeface="Aptos"/>
              </a:rPr>
              <a:t>At least three values of h.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12064" y="5051706"/>
            <a:ext cx="5431536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76656" y="5240363"/>
            <a:ext cx="510235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374B9B"/>
                </a:solidFill>
                <a:latin typeface="Aptos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2753" y="5260609"/>
            <a:ext cx="5102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103B7B"/>
                </a:solidFill>
                <a:latin typeface="Aptos"/>
              </a:rPr>
              <a:t>One deliberately broken gradient.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08192" y="5051706"/>
            <a:ext cx="5431536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72783" y="5225592"/>
            <a:ext cx="510235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374B9B"/>
                </a:solidFill>
                <a:latin typeface="Aptos"/>
              </a:rPr>
              <a:t>04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11696" y="5276555"/>
            <a:ext cx="5102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103B7B"/>
                </a:solidFill>
                <a:latin typeface="Aptos"/>
              </a:rPr>
              <a:t>A fixed random seed and explicit tolerance.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630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" b="1" i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463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 i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103B7B"/>
                </a:solidFill>
                <a:latin typeface="Aptos"/>
              </a:rPr>
              <a:t>A robust implementation separates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32541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667085"/>
                </a:solidFill>
                <a:latin typeface="Aptos"/>
              </a:rPr>
              <a:t>Independent components are easier to test, debug and reuse.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30" b="0" i="0">
                <a:solidFill>
                  <a:srgbClr val="6B7A90"/>
                </a:solidFill>
                <a:latin typeface="Apto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029028"/>
            <a:ext cx="3456432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2157044"/>
            <a:ext cx="312724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422220"/>
            <a:ext cx="312724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03B7B"/>
                </a:solidFill>
                <a:latin typeface="Aptos"/>
              </a:rPr>
              <a:t>value(w,data)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815412"/>
            <a:ext cx="312724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67085"/>
                </a:solidFill>
                <a:latin typeface="Aptos"/>
              </a:rPr>
              <a:t>compute only the scalar objective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15384" y="2029028"/>
            <a:ext cx="3456432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9976" y="2157044"/>
            <a:ext cx="312724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74B9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2422220"/>
            <a:ext cx="312724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03B7B"/>
                </a:solidFill>
                <a:latin typeface="Aptos"/>
              </a:rPr>
              <a:t>grad(w,data)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815412"/>
            <a:ext cx="312724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67085"/>
                </a:solidFill>
                <a:latin typeface="Aptos"/>
              </a:rPr>
              <a:t>compute only the analytic gradient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18704" y="2029028"/>
            <a:ext cx="3456432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83296" y="2157044"/>
            <a:ext cx="312724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422220"/>
            <a:ext cx="312724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03B7B"/>
                </a:solidFill>
                <a:latin typeface="Aptos"/>
              </a:rPr>
              <a:t>finite_difference_grad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815412"/>
            <a:ext cx="312724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67085"/>
                </a:solidFill>
                <a:latin typeface="Aptos"/>
              </a:rPr>
              <a:t>independent diagnostic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" y="3418916"/>
            <a:ext cx="3456432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3546932"/>
            <a:ext cx="312724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74B9B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3812108"/>
            <a:ext cx="312724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03B7B"/>
                </a:solidFill>
                <a:latin typeface="Aptos"/>
              </a:rPr>
              <a:t>validate_shapes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4205300"/>
            <a:ext cx="312724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67085"/>
                </a:solidFill>
                <a:latin typeface="Aptos"/>
              </a:rPr>
              <a:t>reject malformed inputs early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15384" y="3418916"/>
            <a:ext cx="3456432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79976" y="3546932"/>
            <a:ext cx="312724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D9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9976" y="3812108"/>
            <a:ext cx="312724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03B7B"/>
                </a:solidFill>
                <a:latin typeface="Aptos"/>
              </a:rPr>
              <a:t>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9976" y="4205300"/>
            <a:ext cx="312724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67085"/>
                </a:solidFill>
                <a:latin typeface="Aptos"/>
              </a:rPr>
              <a:t>combine random points and edge cases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18704" y="3418916"/>
            <a:ext cx="3456432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83296" y="3546932"/>
            <a:ext cx="312724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74B9B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3812108"/>
            <a:ext cx="312724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03B7B"/>
                </a:solidFill>
                <a:latin typeface="Aptos"/>
              </a:rPr>
              <a:t>experiment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4205300"/>
            <a:ext cx="312724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67085"/>
                </a:solidFill>
                <a:latin typeface="Aptos"/>
              </a:rPr>
              <a:t>record seeds, h values and errors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" y="5257562"/>
            <a:ext cx="11027664" cy="566928"/>
          </a:xfrm>
          <a:prstGeom prst="roundRect">
            <a:avLst/>
          </a:prstGeom>
          <a:solidFill>
            <a:srgbClr val="EEF7FB"/>
          </a:solidFill>
          <a:ln w="12700">
            <a:solidFill>
              <a:srgbClr val="EE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5436202"/>
            <a:ext cx="1143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0EA5D9"/>
                </a:solidFill>
                <a:latin typeface="Aptos"/>
              </a:rPr>
              <a:t>QUESTION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02536" y="5436203"/>
            <a:ext cx="91897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103B7B"/>
                </a:solidFill>
                <a:latin typeface="Aptos"/>
              </a:rPr>
              <a:t>Why should the finite-difference checker not reuse intermediate values from the analytic gradient?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630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" b="1" i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463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 i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03B7B"/>
                </a:solidFill>
                <a:latin typeface="Aptos"/>
              </a:rPr>
              <a:t>Exit ticket — explain these three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18872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67085"/>
                </a:solidFill>
                <a:latin typeface="Aptos"/>
              </a:rPr>
              <a:t>The best debugging habit is to infer the likely bug before rewriting the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30" b="0" i="0">
                <a:solidFill>
                  <a:srgbClr val="6B7A90"/>
                </a:solidFill>
                <a:latin typeface="Aptos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719072"/>
            <a:ext cx="345643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1678" y="1865376"/>
            <a:ext cx="285222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0EA5D9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1678" y="2644507"/>
            <a:ext cx="269959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03B7B"/>
                </a:solidFill>
                <a:latin typeface="Aptos"/>
              </a:rPr>
              <a:t>The error is large for h</a:t>
            </a:r>
            <a:r>
              <a:rPr lang="ru-RU" sz="16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1600" b="1" i="0" dirty="0">
                <a:solidFill>
                  <a:srgbClr val="103B7B"/>
                </a:solidFill>
                <a:latin typeface="Aptos"/>
              </a:rPr>
              <a:t>=</a:t>
            </a:r>
            <a:r>
              <a:rPr lang="ru-RU" sz="16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1600" b="1" i="0" dirty="0">
                <a:solidFill>
                  <a:srgbClr val="103B7B"/>
                </a:solidFill>
                <a:latin typeface="Aptos"/>
              </a:rPr>
              <a:t>10⁻³ and 10⁻⁵, but not for h</a:t>
            </a:r>
            <a:r>
              <a:rPr lang="ru-RU" sz="16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1600" b="1" i="0" dirty="0">
                <a:solidFill>
                  <a:srgbClr val="103B7B"/>
                </a:solidFill>
                <a:latin typeface="Aptos"/>
              </a:rPr>
              <a:t>=</a:t>
            </a:r>
            <a:r>
              <a:rPr lang="ru-RU" sz="16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1600" b="1" i="0" dirty="0">
                <a:solidFill>
                  <a:srgbClr val="103B7B"/>
                </a:solidFill>
                <a:latin typeface="Aptos"/>
              </a:rPr>
              <a:t>10⁻¹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1678" y="3600389"/>
            <a:ext cx="2600414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667085"/>
                </a:solidFill>
                <a:latin typeface="Aptos"/>
              </a:rPr>
              <a:t>Likely cause: a sign or scaling bug that is not cured by smaller 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87952" y="1719072"/>
            <a:ext cx="345643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1378" y="1865376"/>
            <a:ext cx="289841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74B9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378" y="2644507"/>
            <a:ext cx="2669579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03B7B"/>
                </a:solidFill>
                <a:latin typeface="Aptos"/>
              </a:rPr>
              <a:t>The gradient passes at w</a:t>
            </a:r>
            <a:r>
              <a:rPr lang="ru-RU" sz="16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1600" b="1" i="0" dirty="0">
                <a:solidFill>
                  <a:srgbClr val="103B7B"/>
                </a:solidFill>
                <a:latin typeface="Aptos"/>
              </a:rPr>
              <a:t>=</a:t>
            </a:r>
            <a:r>
              <a:rPr lang="ru-RU" sz="1600" b="1" i="0" dirty="0">
                <a:solidFill>
                  <a:srgbClr val="103B7B"/>
                </a:solidFill>
                <a:latin typeface="Aptos"/>
              </a:rPr>
              <a:t> </a:t>
            </a:r>
            <a:r>
              <a:rPr sz="1600" b="1" i="0" dirty="0">
                <a:solidFill>
                  <a:srgbClr val="103B7B"/>
                </a:solidFill>
                <a:latin typeface="Aptos"/>
              </a:rPr>
              <a:t>0 but fails at random 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378" y="3600389"/>
            <a:ext cx="2669579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667085"/>
                </a:solidFill>
                <a:latin typeface="Aptos"/>
              </a:rPr>
              <a:t>Likely cause: special cancellations at zero hide the real bug.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719072"/>
            <a:ext cx="345643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93721" y="1865376"/>
            <a:ext cx="2761957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0EA5D9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3723" y="2521397"/>
            <a:ext cx="25908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03B7B"/>
                </a:solidFill>
                <a:latin typeface="Aptos"/>
              </a:rPr>
              <a:t>Analytic and numerical gradients differ by a constant factor 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3721" y="3600389"/>
            <a:ext cx="2451063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667085"/>
                </a:solidFill>
                <a:latin typeface="Aptos"/>
              </a:rPr>
              <a:t>Likely cause: sum/mean inconsistency in the objective or gradient.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" y="5102352"/>
            <a:ext cx="11027664" cy="896112"/>
          </a:xfrm>
          <a:prstGeom prst="roundRect">
            <a:avLst/>
          </a:prstGeom>
          <a:solidFill>
            <a:srgbClr val="EEF7FB"/>
          </a:solidFill>
          <a:ln w="12700">
            <a:solidFill>
              <a:srgbClr val="EE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0639" y="5418207"/>
            <a:ext cx="1143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0EA5D9"/>
                </a:solidFill>
                <a:latin typeface="Aptos"/>
              </a:rPr>
              <a:t>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2214" y="5277864"/>
            <a:ext cx="8981753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dirty="0">
                <a:solidFill>
                  <a:srgbClr val="103B7B"/>
                </a:solidFill>
                <a:latin typeface="Aptos"/>
              </a:rPr>
              <a:t>Most gradient bugs are not advanced-calculus errors </a:t>
            </a:r>
            <a:r>
              <a:rPr lang="ru-RU" b="1" i="0" dirty="0">
                <a:solidFill>
                  <a:srgbClr val="103B7B"/>
                </a:solidFill>
                <a:latin typeface="Aptos"/>
              </a:rPr>
              <a:t>-</a:t>
            </a:r>
            <a:r>
              <a:rPr b="1" i="0" dirty="0">
                <a:solidFill>
                  <a:srgbClr val="103B7B"/>
                </a:solidFill>
                <a:latin typeface="Aptos"/>
              </a:rPr>
              <a:t> they are signs, shapes, scaling or unstable formulas.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630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" b="1" i="0">
                <a:solidFill>
                  <a:srgbClr val="103B7B"/>
                </a:solidFill>
                <a:latin typeface="Aptos"/>
              </a:rPr>
              <a:t>HSE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463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 i="0">
                <a:solidFill>
                  <a:srgbClr val="6B7A90"/>
                </a:solidFill>
                <a:latin typeface="Aptos"/>
              </a:rPr>
              <a:t>OPTIMIZATION METHODS · SEMINAR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384048"/>
            <a:ext cx="11484864" cy="9144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585216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03B7B"/>
                </a:solidFill>
                <a:latin typeface="Aptos"/>
              </a:rPr>
              <a:t>Five questions every objective must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18872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67085"/>
                </a:solidFill>
                <a:latin typeface="Aptos"/>
              </a:rPr>
              <a:t>Use this checklist before trusting an implementation in optimization or machine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55664"/>
            <a:ext cx="1645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30" b="0" i="0">
                <a:solidFill>
                  <a:srgbClr val="6B7A90"/>
                </a:solidFill>
                <a:latin typeface="Aptos"/>
              </a:rPr>
              <a:t>25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764792"/>
            <a:ext cx="237744" cy="237744"/>
          </a:xfrm>
          <a:prstGeom prst="ellipse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76479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700784"/>
            <a:ext cx="10149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103B7B"/>
                </a:solidFill>
                <a:latin typeface="Aptos"/>
              </a:rPr>
              <a:t>What mathematical objective is implemented?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514600"/>
            <a:ext cx="237744" cy="237744"/>
          </a:xfrm>
          <a:prstGeom prst="ellipse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5146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450592"/>
            <a:ext cx="10149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103B7B"/>
                </a:solidFill>
                <a:latin typeface="Aptos"/>
              </a:rPr>
              <a:t>What are the shapes of every variable and every output?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264408"/>
            <a:ext cx="237744" cy="237744"/>
          </a:xfrm>
          <a:prstGeom prst="ellipse">
            <a:avLst/>
          </a:prstGeom>
          <a:solidFill>
            <a:srgbClr val="0EA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26440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200400"/>
            <a:ext cx="10149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103B7B"/>
                </a:solidFill>
                <a:latin typeface="Aptos"/>
              </a:rPr>
              <a:t>Does the analytic gradient agree with finite differences?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014216"/>
            <a:ext cx="237744" cy="237744"/>
          </a:xfrm>
          <a:prstGeom prst="ellipse">
            <a:avLst/>
          </a:prstGeom>
          <a:solidFill>
            <a:srgbClr val="37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401421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950208"/>
            <a:ext cx="10149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103B7B"/>
                </a:solidFill>
                <a:latin typeface="Aptos"/>
              </a:rPr>
              <a:t>What does the Hessian say about local geometry?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764024"/>
            <a:ext cx="237744" cy="237744"/>
          </a:xfrm>
          <a:prstGeom prst="ellipse">
            <a:avLst/>
          </a:prstGeom>
          <a:solidFill>
            <a:srgbClr val="37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700016"/>
            <a:ext cx="10149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103B7B"/>
                </a:solidFill>
                <a:latin typeface="Aptos"/>
              </a:rPr>
              <a:t>Does the implementation remain stable on extreme inputs?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" y="5449824"/>
            <a:ext cx="11027664" cy="660478"/>
          </a:xfrm>
          <a:prstGeom prst="roundRect">
            <a:avLst/>
          </a:prstGeom>
          <a:solidFill>
            <a:srgbClr val="EEF7FB"/>
          </a:solidFill>
          <a:ln w="12700">
            <a:solidFill>
              <a:srgbClr val="EE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" y="5608895"/>
            <a:ext cx="177346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EA5D9"/>
                </a:solidFill>
                <a:latin typeface="Aptos"/>
              </a:rPr>
              <a:t>NEXT SEMINAR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9944" y="5626174"/>
            <a:ext cx="89154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>
                <a:solidFill>
                  <a:srgbClr val="103B7B"/>
                </a:solidFill>
                <a:latin typeface="Aptos"/>
              </a:rPr>
              <a:t>Trusted derivatives become an iterative optimization algorithm.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B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420625"/>
            <a:ext cx="14977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0EA5D9"/>
                </a:solidFill>
                <a:latin typeface="Aptos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1" y="1630910"/>
            <a:ext cx="6726233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Aptos"/>
              </a:rPr>
              <a:t>Gradient-based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1" y="2554025"/>
            <a:ext cx="494432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>
                <a:solidFill>
                  <a:srgbClr val="C7D8EF"/>
                </a:solidFill>
                <a:latin typeface="Aptos"/>
              </a:rPr>
              <a:t>Before next time, make sure you can explain: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788" y="3012685"/>
            <a:ext cx="4480560" cy="164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dirty="0">
                <a:solidFill>
                  <a:srgbClr val="FFFFFF"/>
                </a:solidFill>
                <a:latin typeface="Aptos"/>
              </a:rPr>
              <a:t>•  matrix differential recipe</a:t>
            </a:r>
          </a:p>
          <a:p>
            <a:pPr algn="l">
              <a:spcAft>
                <a:spcPts val="200"/>
              </a:spcAft>
            </a:pPr>
            <a:r>
              <a:rPr sz="2000" dirty="0">
                <a:solidFill>
                  <a:srgbClr val="FFFFFF"/>
                </a:solidFill>
                <a:latin typeface="Aptos"/>
              </a:rPr>
              <a:t>•  Hessian classification</a:t>
            </a:r>
          </a:p>
          <a:p>
            <a:pPr algn="l">
              <a:spcAft>
                <a:spcPts val="200"/>
              </a:spcAft>
            </a:pPr>
            <a:r>
              <a:rPr sz="2000" dirty="0">
                <a:solidFill>
                  <a:srgbClr val="FFFFFF"/>
                </a:solidFill>
                <a:latin typeface="Aptos"/>
              </a:rPr>
              <a:t>•  central and directional checks</a:t>
            </a:r>
          </a:p>
          <a:p>
            <a:pPr algn="l">
              <a:spcAft>
                <a:spcPts val="200"/>
              </a:spcAft>
            </a:pPr>
            <a:r>
              <a:rPr sz="2000" dirty="0">
                <a:solidFill>
                  <a:srgbClr val="FFFFFF"/>
                </a:solidFill>
                <a:latin typeface="Aptos"/>
              </a:rPr>
              <a:t>•  rank deficiency</a:t>
            </a:r>
          </a:p>
          <a:p>
            <a:pPr algn="l">
              <a:spcAft>
                <a:spcPts val="200"/>
              </a:spcAft>
            </a:pPr>
            <a:r>
              <a:rPr sz="2000" dirty="0">
                <a:solidFill>
                  <a:srgbClr val="FFFFFF"/>
                </a:solidFill>
                <a:latin typeface="Aptos"/>
              </a:rPr>
              <a:t>•  stable logistic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AFC4E0"/>
                </a:solidFill>
                <a:latin typeface="Aptos"/>
              </a:rPr>
              <a:t>HSE UNIVERSITY · OPTIMIZATION METHODS · SEMINAR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21108" y="6446520"/>
            <a:ext cx="8271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 dirty="0">
                <a:solidFill>
                  <a:srgbClr val="AFC4E0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1113</TotalTime>
  <Words>3311</Words>
  <Application>Microsoft Macintosh PowerPoint</Application>
  <PresentationFormat>Широкоэкранный</PresentationFormat>
  <Paragraphs>523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0" baseType="lpstr">
      <vt:lpstr>Aptos</vt:lpstr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HSE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Bases — Introduction &amp; ER Modeling</dc:title>
  <dc:subject>Data Bases — Seminar 1</dc:subject>
  <dc:creator>Anna Matveeva</dc:creator>
  <cp:lastModifiedBy>B9875</cp:lastModifiedBy>
  <cp:revision>57</cp:revision>
  <dcterms:created xsi:type="dcterms:W3CDTF">2026-09-03T19:51:49Z</dcterms:created>
  <dcterms:modified xsi:type="dcterms:W3CDTF">2026-09-07T12:23:50Z</dcterms:modified>
</cp:coreProperties>
</file>